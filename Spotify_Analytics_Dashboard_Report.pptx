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sldIdLst>
    <p:sldId id="256" r:id="rId2"/>
    <p:sldId id="257" r:id="rId3"/>
    <p:sldId id="258" r:id="rId4"/>
    <p:sldId id="259" r:id="rId5"/>
    <p:sldId id="260" r:id="rId6"/>
    <p:sldId id="270" r:id="rId7"/>
    <p:sldId id="261" r:id="rId8"/>
    <p:sldId id="271" r:id="rId9"/>
    <p:sldId id="262" r:id="rId10"/>
    <p:sldId id="263" r:id="rId11"/>
    <p:sldId id="264" r:id="rId12"/>
    <p:sldId id="265" r:id="rId13"/>
    <p:sldId id="266" r:id="rId14"/>
    <p:sldId id="272" r:id="rId15"/>
    <p:sldId id="273" r:id="rId16"/>
    <p:sldId id="267" r:id="rId17"/>
    <p:sldId id="268" r:id="rId18"/>
    <p:sldId id="269"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18" autoAdjust="0"/>
  </p:normalViewPr>
  <p:slideViewPr>
    <p:cSldViewPr snapToGrid="0" snapToObjects="1">
      <p:cViewPr varScale="1">
        <p:scale>
          <a:sx n="77" d="100"/>
          <a:sy n="77" d="100"/>
        </p:scale>
        <p:origin x="161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2EC2DC-84EF-4779-873F-34D17369FBA3}"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D0C7A5A-12B5-4BEC-83C1-B8898436C320}">
      <dgm:prSet custT="1"/>
      <dgm:spPr/>
      <dgm:t>
        <a:bodyPr/>
        <a:lstStyle/>
        <a:p>
          <a:pPr>
            <a:defRPr cap="all"/>
          </a:pPr>
          <a:r>
            <a:rPr lang="en-US" sz="1800" dirty="0">
              <a:latin typeface="Times New Roman" panose="02020603050405020304" pitchFamily="18" charset="0"/>
              <a:cs typeface="Times New Roman" panose="02020603050405020304" pitchFamily="18" charset="0"/>
            </a:rPr>
            <a:t>• Power BI Desktop</a:t>
          </a:r>
        </a:p>
      </dgm:t>
    </dgm:pt>
    <dgm:pt modelId="{2F84E698-290F-48AF-8171-5278FD928AD4}" type="parTrans" cxnId="{C6C50A45-1A1E-4B6F-9AF7-2863C5FBF714}">
      <dgm:prSet/>
      <dgm:spPr/>
      <dgm:t>
        <a:bodyPr/>
        <a:lstStyle/>
        <a:p>
          <a:endParaRPr lang="en-US"/>
        </a:p>
      </dgm:t>
    </dgm:pt>
    <dgm:pt modelId="{B0FF026F-1522-439F-A89F-355F4C348B57}" type="sibTrans" cxnId="{C6C50A45-1A1E-4B6F-9AF7-2863C5FBF714}">
      <dgm:prSet/>
      <dgm:spPr/>
      <dgm:t>
        <a:bodyPr/>
        <a:lstStyle/>
        <a:p>
          <a:endParaRPr lang="en-US"/>
        </a:p>
      </dgm:t>
    </dgm:pt>
    <dgm:pt modelId="{09B73AB4-3F2B-41B2-B599-7A6A5BE32D03}">
      <dgm:prSet custT="1"/>
      <dgm:spPr/>
      <dgm:t>
        <a:bodyPr/>
        <a:lstStyle/>
        <a:p>
          <a:pPr>
            <a:defRPr cap="all"/>
          </a:pPr>
          <a:r>
            <a:rPr lang="en-US" sz="1800" dirty="0">
              <a:latin typeface="Times New Roman" panose="02020603050405020304" pitchFamily="18" charset="0"/>
              <a:cs typeface="Times New Roman" panose="02020603050405020304" pitchFamily="18" charset="0"/>
            </a:rPr>
            <a:t>• Excel / CSV Dataset</a:t>
          </a:r>
        </a:p>
      </dgm:t>
    </dgm:pt>
    <dgm:pt modelId="{50A41E3A-2331-4E6E-AE5B-16DFF70BFA28}" type="parTrans" cxnId="{97A8C811-A20E-478F-BE16-973290F1190A}">
      <dgm:prSet/>
      <dgm:spPr/>
      <dgm:t>
        <a:bodyPr/>
        <a:lstStyle/>
        <a:p>
          <a:endParaRPr lang="en-US"/>
        </a:p>
      </dgm:t>
    </dgm:pt>
    <dgm:pt modelId="{53B7462D-2E21-41B6-8A60-B2DF6D923893}" type="sibTrans" cxnId="{97A8C811-A20E-478F-BE16-973290F1190A}">
      <dgm:prSet/>
      <dgm:spPr/>
      <dgm:t>
        <a:bodyPr/>
        <a:lstStyle/>
        <a:p>
          <a:endParaRPr lang="en-US"/>
        </a:p>
      </dgm:t>
    </dgm:pt>
    <dgm:pt modelId="{9A8898BA-A208-44DE-B7A0-08DA12F8F9E9}">
      <dgm:prSet custT="1"/>
      <dgm:spPr/>
      <dgm:t>
        <a:bodyPr/>
        <a:lstStyle/>
        <a:p>
          <a:pPr>
            <a:defRPr cap="all"/>
          </a:pPr>
          <a:r>
            <a:rPr lang="en-US" sz="1800" dirty="0"/>
            <a:t>• Data Modeling &amp; </a:t>
          </a:r>
          <a:r>
            <a:rPr lang="en-US" sz="1800" dirty="0">
              <a:latin typeface="Times New Roman" panose="02020603050405020304" pitchFamily="18" charset="0"/>
              <a:cs typeface="Times New Roman" panose="02020603050405020304" pitchFamily="18" charset="0"/>
            </a:rPr>
            <a:t>Visualization</a:t>
          </a:r>
          <a:r>
            <a:rPr lang="en-US" sz="1800" dirty="0"/>
            <a:t> Techniques</a:t>
          </a:r>
        </a:p>
      </dgm:t>
    </dgm:pt>
    <dgm:pt modelId="{00870732-C8EB-4A55-A2D5-C70389DD57A4}" type="parTrans" cxnId="{FDAB5D32-FC09-42A7-90F8-8CB60A3EFAC8}">
      <dgm:prSet/>
      <dgm:spPr/>
      <dgm:t>
        <a:bodyPr/>
        <a:lstStyle/>
        <a:p>
          <a:endParaRPr lang="en-US"/>
        </a:p>
      </dgm:t>
    </dgm:pt>
    <dgm:pt modelId="{06BFF624-BF6A-4538-9612-3254761A370A}" type="sibTrans" cxnId="{FDAB5D32-FC09-42A7-90F8-8CB60A3EFAC8}">
      <dgm:prSet/>
      <dgm:spPr/>
      <dgm:t>
        <a:bodyPr/>
        <a:lstStyle/>
        <a:p>
          <a:endParaRPr lang="en-US"/>
        </a:p>
      </dgm:t>
    </dgm:pt>
    <dgm:pt modelId="{807591AF-8ADA-43FC-809F-077295518AAA}" type="pres">
      <dgm:prSet presAssocID="{D12EC2DC-84EF-4779-873F-34D17369FBA3}" presName="root" presStyleCnt="0">
        <dgm:presLayoutVars>
          <dgm:dir/>
          <dgm:resizeHandles val="exact"/>
        </dgm:presLayoutVars>
      </dgm:prSet>
      <dgm:spPr/>
    </dgm:pt>
    <dgm:pt modelId="{78214415-0621-4C50-8395-AC4928230DFF}" type="pres">
      <dgm:prSet presAssocID="{7D0C7A5A-12B5-4BEC-83C1-B8898436C320}" presName="compNode" presStyleCnt="0"/>
      <dgm:spPr/>
    </dgm:pt>
    <dgm:pt modelId="{16CFAADF-498A-4691-8DA0-5D68C8E4D0E8}" type="pres">
      <dgm:prSet presAssocID="{7D0C7A5A-12B5-4BEC-83C1-B8898436C320}" presName="iconBgRect" presStyleLbl="bgShp" presStyleIdx="0" presStyleCnt="3"/>
      <dgm:spPr/>
    </dgm:pt>
    <dgm:pt modelId="{E8C50B69-37C0-4460-9241-A543E9B9F141}" type="pres">
      <dgm:prSet presAssocID="{7D0C7A5A-12B5-4BEC-83C1-B8898436C32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C28FB369-9E0E-40D6-B413-181ED7ED35E9}" type="pres">
      <dgm:prSet presAssocID="{7D0C7A5A-12B5-4BEC-83C1-B8898436C320}" presName="spaceRect" presStyleCnt="0"/>
      <dgm:spPr/>
    </dgm:pt>
    <dgm:pt modelId="{7194D8C1-460B-437D-A13F-7712C2A08EC7}" type="pres">
      <dgm:prSet presAssocID="{7D0C7A5A-12B5-4BEC-83C1-B8898436C320}" presName="textRect" presStyleLbl="revTx" presStyleIdx="0" presStyleCnt="3">
        <dgm:presLayoutVars>
          <dgm:chMax val="1"/>
          <dgm:chPref val="1"/>
        </dgm:presLayoutVars>
      </dgm:prSet>
      <dgm:spPr/>
    </dgm:pt>
    <dgm:pt modelId="{B63F3E8B-FC09-4381-B269-185CA3A6E904}" type="pres">
      <dgm:prSet presAssocID="{B0FF026F-1522-439F-A89F-355F4C348B57}" presName="sibTrans" presStyleCnt="0"/>
      <dgm:spPr/>
    </dgm:pt>
    <dgm:pt modelId="{C0123F0E-FFD4-4715-AC15-A3E649663A33}" type="pres">
      <dgm:prSet presAssocID="{09B73AB4-3F2B-41B2-B599-7A6A5BE32D03}" presName="compNode" presStyleCnt="0"/>
      <dgm:spPr/>
    </dgm:pt>
    <dgm:pt modelId="{2993CEB2-00BE-4260-A566-E2DDF333741E}" type="pres">
      <dgm:prSet presAssocID="{09B73AB4-3F2B-41B2-B599-7A6A5BE32D03}" presName="iconBgRect" presStyleLbl="bgShp" presStyleIdx="1" presStyleCnt="3"/>
      <dgm:spPr/>
    </dgm:pt>
    <dgm:pt modelId="{88906BE3-1CA6-4DCE-A81C-08CD603A4B35}" type="pres">
      <dgm:prSet presAssocID="{09B73AB4-3F2B-41B2-B599-7A6A5BE32D0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ble"/>
        </a:ext>
      </dgm:extLst>
    </dgm:pt>
    <dgm:pt modelId="{C8049F4E-2CB4-42C1-AD26-CBA91814EF5C}" type="pres">
      <dgm:prSet presAssocID="{09B73AB4-3F2B-41B2-B599-7A6A5BE32D03}" presName="spaceRect" presStyleCnt="0"/>
      <dgm:spPr/>
    </dgm:pt>
    <dgm:pt modelId="{85D1D9DF-4693-436B-81B8-6AA005A3D26E}" type="pres">
      <dgm:prSet presAssocID="{09B73AB4-3F2B-41B2-B599-7A6A5BE32D03}" presName="textRect" presStyleLbl="revTx" presStyleIdx="1" presStyleCnt="3">
        <dgm:presLayoutVars>
          <dgm:chMax val="1"/>
          <dgm:chPref val="1"/>
        </dgm:presLayoutVars>
      </dgm:prSet>
      <dgm:spPr/>
    </dgm:pt>
    <dgm:pt modelId="{36D810D5-C643-4400-BAB5-2220C24E45ED}" type="pres">
      <dgm:prSet presAssocID="{53B7462D-2E21-41B6-8A60-B2DF6D923893}" presName="sibTrans" presStyleCnt="0"/>
      <dgm:spPr/>
    </dgm:pt>
    <dgm:pt modelId="{222C614C-4500-46F8-A5DB-758965FDA341}" type="pres">
      <dgm:prSet presAssocID="{9A8898BA-A208-44DE-B7A0-08DA12F8F9E9}" presName="compNode" presStyleCnt="0"/>
      <dgm:spPr/>
    </dgm:pt>
    <dgm:pt modelId="{B0CC8318-0FCC-4729-A2D8-E8842A24EF03}" type="pres">
      <dgm:prSet presAssocID="{9A8898BA-A208-44DE-B7A0-08DA12F8F9E9}" presName="iconBgRect" presStyleLbl="bgShp" presStyleIdx="2" presStyleCnt="3"/>
      <dgm:spPr/>
    </dgm:pt>
    <dgm:pt modelId="{0AA5984C-5460-4286-A983-B5C428C77E0E}" type="pres">
      <dgm:prSet presAssocID="{9A8898BA-A208-44DE-B7A0-08DA12F8F9E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F893D0D7-5EAD-4412-BEFB-8F911AFDB98E}" type="pres">
      <dgm:prSet presAssocID="{9A8898BA-A208-44DE-B7A0-08DA12F8F9E9}" presName="spaceRect" presStyleCnt="0"/>
      <dgm:spPr/>
    </dgm:pt>
    <dgm:pt modelId="{F8E75CB9-6109-462F-9246-8E5A36E1C80F}" type="pres">
      <dgm:prSet presAssocID="{9A8898BA-A208-44DE-B7A0-08DA12F8F9E9}" presName="textRect" presStyleLbl="revTx" presStyleIdx="2" presStyleCnt="3">
        <dgm:presLayoutVars>
          <dgm:chMax val="1"/>
          <dgm:chPref val="1"/>
        </dgm:presLayoutVars>
      </dgm:prSet>
      <dgm:spPr/>
    </dgm:pt>
  </dgm:ptLst>
  <dgm:cxnLst>
    <dgm:cxn modelId="{97A8C811-A20E-478F-BE16-973290F1190A}" srcId="{D12EC2DC-84EF-4779-873F-34D17369FBA3}" destId="{09B73AB4-3F2B-41B2-B599-7A6A5BE32D03}" srcOrd="1" destOrd="0" parTransId="{50A41E3A-2331-4E6E-AE5B-16DFF70BFA28}" sibTransId="{53B7462D-2E21-41B6-8A60-B2DF6D923893}"/>
    <dgm:cxn modelId="{FDAB5D32-FC09-42A7-90F8-8CB60A3EFAC8}" srcId="{D12EC2DC-84EF-4779-873F-34D17369FBA3}" destId="{9A8898BA-A208-44DE-B7A0-08DA12F8F9E9}" srcOrd="2" destOrd="0" parTransId="{00870732-C8EB-4A55-A2D5-C70389DD57A4}" sibTransId="{06BFF624-BF6A-4538-9612-3254761A370A}"/>
    <dgm:cxn modelId="{C6C50A45-1A1E-4B6F-9AF7-2863C5FBF714}" srcId="{D12EC2DC-84EF-4779-873F-34D17369FBA3}" destId="{7D0C7A5A-12B5-4BEC-83C1-B8898436C320}" srcOrd="0" destOrd="0" parTransId="{2F84E698-290F-48AF-8171-5278FD928AD4}" sibTransId="{B0FF026F-1522-439F-A89F-355F4C348B57}"/>
    <dgm:cxn modelId="{F6534870-DCBC-40DA-AFB7-7B52E1EB0473}" type="presOf" srcId="{7D0C7A5A-12B5-4BEC-83C1-B8898436C320}" destId="{7194D8C1-460B-437D-A13F-7712C2A08EC7}" srcOrd="0" destOrd="0" presId="urn:microsoft.com/office/officeart/2018/5/layout/IconCircleLabelList"/>
    <dgm:cxn modelId="{23118489-8438-42CE-966F-C1A3CCFB0D5D}" type="presOf" srcId="{D12EC2DC-84EF-4779-873F-34D17369FBA3}" destId="{807591AF-8ADA-43FC-809F-077295518AAA}" srcOrd="0" destOrd="0" presId="urn:microsoft.com/office/officeart/2018/5/layout/IconCircleLabelList"/>
    <dgm:cxn modelId="{1E1AE7D5-E060-4530-AE5C-6D3948CC121A}" type="presOf" srcId="{9A8898BA-A208-44DE-B7A0-08DA12F8F9E9}" destId="{F8E75CB9-6109-462F-9246-8E5A36E1C80F}" srcOrd="0" destOrd="0" presId="urn:microsoft.com/office/officeart/2018/5/layout/IconCircleLabelList"/>
    <dgm:cxn modelId="{E06A1CE8-C29C-4067-B986-4C4F20F58668}" type="presOf" srcId="{09B73AB4-3F2B-41B2-B599-7A6A5BE32D03}" destId="{85D1D9DF-4693-436B-81B8-6AA005A3D26E}" srcOrd="0" destOrd="0" presId="urn:microsoft.com/office/officeart/2018/5/layout/IconCircleLabelList"/>
    <dgm:cxn modelId="{A74B0D52-AC95-41B9-880C-BFE821F897A7}" type="presParOf" srcId="{807591AF-8ADA-43FC-809F-077295518AAA}" destId="{78214415-0621-4C50-8395-AC4928230DFF}" srcOrd="0" destOrd="0" presId="urn:microsoft.com/office/officeart/2018/5/layout/IconCircleLabelList"/>
    <dgm:cxn modelId="{421F17BF-14FA-4247-9E48-9D83B1877C94}" type="presParOf" srcId="{78214415-0621-4C50-8395-AC4928230DFF}" destId="{16CFAADF-498A-4691-8DA0-5D68C8E4D0E8}" srcOrd="0" destOrd="0" presId="urn:microsoft.com/office/officeart/2018/5/layout/IconCircleLabelList"/>
    <dgm:cxn modelId="{D59954A2-BCAE-4D1C-A608-600A24751C2A}" type="presParOf" srcId="{78214415-0621-4C50-8395-AC4928230DFF}" destId="{E8C50B69-37C0-4460-9241-A543E9B9F141}" srcOrd="1" destOrd="0" presId="urn:microsoft.com/office/officeart/2018/5/layout/IconCircleLabelList"/>
    <dgm:cxn modelId="{BB139857-707B-4185-957E-892A60523CB8}" type="presParOf" srcId="{78214415-0621-4C50-8395-AC4928230DFF}" destId="{C28FB369-9E0E-40D6-B413-181ED7ED35E9}" srcOrd="2" destOrd="0" presId="urn:microsoft.com/office/officeart/2018/5/layout/IconCircleLabelList"/>
    <dgm:cxn modelId="{386D4691-7E72-4D12-80E2-4D747CE984DE}" type="presParOf" srcId="{78214415-0621-4C50-8395-AC4928230DFF}" destId="{7194D8C1-460B-437D-A13F-7712C2A08EC7}" srcOrd="3" destOrd="0" presId="urn:microsoft.com/office/officeart/2018/5/layout/IconCircleLabelList"/>
    <dgm:cxn modelId="{06BBDC93-AF6F-4E82-8DDF-894ABA75EDF3}" type="presParOf" srcId="{807591AF-8ADA-43FC-809F-077295518AAA}" destId="{B63F3E8B-FC09-4381-B269-185CA3A6E904}" srcOrd="1" destOrd="0" presId="urn:microsoft.com/office/officeart/2018/5/layout/IconCircleLabelList"/>
    <dgm:cxn modelId="{6C345861-CCCF-419D-9E32-34CB8B044CF4}" type="presParOf" srcId="{807591AF-8ADA-43FC-809F-077295518AAA}" destId="{C0123F0E-FFD4-4715-AC15-A3E649663A33}" srcOrd="2" destOrd="0" presId="urn:microsoft.com/office/officeart/2018/5/layout/IconCircleLabelList"/>
    <dgm:cxn modelId="{15E13E5C-2705-4E47-A75A-0215F0CF4B57}" type="presParOf" srcId="{C0123F0E-FFD4-4715-AC15-A3E649663A33}" destId="{2993CEB2-00BE-4260-A566-E2DDF333741E}" srcOrd="0" destOrd="0" presId="urn:microsoft.com/office/officeart/2018/5/layout/IconCircleLabelList"/>
    <dgm:cxn modelId="{DBFCCDCB-47EB-45F9-895F-FC46692BA24C}" type="presParOf" srcId="{C0123F0E-FFD4-4715-AC15-A3E649663A33}" destId="{88906BE3-1CA6-4DCE-A81C-08CD603A4B35}" srcOrd="1" destOrd="0" presId="urn:microsoft.com/office/officeart/2018/5/layout/IconCircleLabelList"/>
    <dgm:cxn modelId="{34D4F353-D7D7-4FD5-BCFB-77E0246FE893}" type="presParOf" srcId="{C0123F0E-FFD4-4715-AC15-A3E649663A33}" destId="{C8049F4E-2CB4-42C1-AD26-CBA91814EF5C}" srcOrd="2" destOrd="0" presId="urn:microsoft.com/office/officeart/2018/5/layout/IconCircleLabelList"/>
    <dgm:cxn modelId="{695436DE-757C-4830-B6D3-BBDE4BC911C2}" type="presParOf" srcId="{C0123F0E-FFD4-4715-AC15-A3E649663A33}" destId="{85D1D9DF-4693-436B-81B8-6AA005A3D26E}" srcOrd="3" destOrd="0" presId="urn:microsoft.com/office/officeart/2018/5/layout/IconCircleLabelList"/>
    <dgm:cxn modelId="{6D570148-38C7-442A-B89B-34C088323836}" type="presParOf" srcId="{807591AF-8ADA-43FC-809F-077295518AAA}" destId="{36D810D5-C643-4400-BAB5-2220C24E45ED}" srcOrd="3" destOrd="0" presId="urn:microsoft.com/office/officeart/2018/5/layout/IconCircleLabelList"/>
    <dgm:cxn modelId="{D2ADAE50-6443-4FCE-A71A-8DABBD8B64E6}" type="presParOf" srcId="{807591AF-8ADA-43FC-809F-077295518AAA}" destId="{222C614C-4500-46F8-A5DB-758965FDA341}" srcOrd="4" destOrd="0" presId="urn:microsoft.com/office/officeart/2018/5/layout/IconCircleLabelList"/>
    <dgm:cxn modelId="{A6100D9A-5F68-497F-B0F1-4A40DC9D0BFA}" type="presParOf" srcId="{222C614C-4500-46F8-A5DB-758965FDA341}" destId="{B0CC8318-0FCC-4729-A2D8-E8842A24EF03}" srcOrd="0" destOrd="0" presId="urn:microsoft.com/office/officeart/2018/5/layout/IconCircleLabelList"/>
    <dgm:cxn modelId="{B6EF55E3-6A64-4FBE-99E6-A86CF7446C61}" type="presParOf" srcId="{222C614C-4500-46F8-A5DB-758965FDA341}" destId="{0AA5984C-5460-4286-A983-B5C428C77E0E}" srcOrd="1" destOrd="0" presId="urn:microsoft.com/office/officeart/2018/5/layout/IconCircleLabelList"/>
    <dgm:cxn modelId="{E338712C-472B-473F-8FA6-9963553F7721}" type="presParOf" srcId="{222C614C-4500-46F8-A5DB-758965FDA341}" destId="{F893D0D7-5EAD-4412-BEFB-8F911AFDB98E}" srcOrd="2" destOrd="0" presId="urn:microsoft.com/office/officeart/2018/5/layout/IconCircleLabelList"/>
    <dgm:cxn modelId="{513ED61A-C6A3-4CAB-8E99-0ACEF7401728}" type="presParOf" srcId="{222C614C-4500-46F8-A5DB-758965FDA341}" destId="{F8E75CB9-6109-462F-9246-8E5A36E1C80F}"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CFAADF-498A-4691-8DA0-5D68C8E4D0E8}">
      <dsp:nvSpPr>
        <dsp:cNvPr id="0" name=""/>
        <dsp:cNvSpPr/>
      </dsp:nvSpPr>
      <dsp:spPr>
        <a:xfrm>
          <a:off x="443299" y="831741"/>
          <a:ext cx="1303875" cy="13038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C50B69-37C0-4460-9241-A543E9B9F141}">
      <dsp:nvSpPr>
        <dsp:cNvPr id="0" name=""/>
        <dsp:cNvSpPr/>
      </dsp:nvSpPr>
      <dsp:spPr>
        <a:xfrm>
          <a:off x="721174" y="1109616"/>
          <a:ext cx="748125" cy="748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194D8C1-460B-437D-A13F-7712C2A08EC7}">
      <dsp:nvSpPr>
        <dsp:cNvPr id="0" name=""/>
        <dsp:cNvSpPr/>
      </dsp:nvSpPr>
      <dsp:spPr>
        <a:xfrm>
          <a:off x="26487" y="2541741"/>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latin typeface="Times New Roman" panose="02020603050405020304" pitchFamily="18" charset="0"/>
              <a:cs typeface="Times New Roman" panose="02020603050405020304" pitchFamily="18" charset="0"/>
            </a:rPr>
            <a:t>• Power BI Desktop</a:t>
          </a:r>
        </a:p>
      </dsp:txBody>
      <dsp:txXfrm>
        <a:off x="26487" y="2541741"/>
        <a:ext cx="2137500" cy="720000"/>
      </dsp:txXfrm>
    </dsp:sp>
    <dsp:sp modelId="{2993CEB2-00BE-4260-A566-E2DDF333741E}">
      <dsp:nvSpPr>
        <dsp:cNvPr id="0" name=""/>
        <dsp:cNvSpPr/>
      </dsp:nvSpPr>
      <dsp:spPr>
        <a:xfrm>
          <a:off x="2954862" y="831741"/>
          <a:ext cx="1303875" cy="13038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906BE3-1CA6-4DCE-A81C-08CD603A4B35}">
      <dsp:nvSpPr>
        <dsp:cNvPr id="0" name=""/>
        <dsp:cNvSpPr/>
      </dsp:nvSpPr>
      <dsp:spPr>
        <a:xfrm>
          <a:off x="3232737" y="1109616"/>
          <a:ext cx="748125" cy="748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5D1D9DF-4693-436B-81B8-6AA005A3D26E}">
      <dsp:nvSpPr>
        <dsp:cNvPr id="0" name=""/>
        <dsp:cNvSpPr/>
      </dsp:nvSpPr>
      <dsp:spPr>
        <a:xfrm>
          <a:off x="2538049" y="2541741"/>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latin typeface="Times New Roman" panose="02020603050405020304" pitchFamily="18" charset="0"/>
              <a:cs typeface="Times New Roman" panose="02020603050405020304" pitchFamily="18" charset="0"/>
            </a:rPr>
            <a:t>• Excel / CSV Dataset</a:t>
          </a:r>
        </a:p>
      </dsp:txBody>
      <dsp:txXfrm>
        <a:off x="2538049" y="2541741"/>
        <a:ext cx="2137500" cy="720000"/>
      </dsp:txXfrm>
    </dsp:sp>
    <dsp:sp modelId="{B0CC8318-0FCC-4729-A2D8-E8842A24EF03}">
      <dsp:nvSpPr>
        <dsp:cNvPr id="0" name=""/>
        <dsp:cNvSpPr/>
      </dsp:nvSpPr>
      <dsp:spPr>
        <a:xfrm>
          <a:off x="5466424" y="831741"/>
          <a:ext cx="1303875" cy="130387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A5984C-5460-4286-A983-B5C428C77E0E}">
      <dsp:nvSpPr>
        <dsp:cNvPr id="0" name=""/>
        <dsp:cNvSpPr/>
      </dsp:nvSpPr>
      <dsp:spPr>
        <a:xfrm>
          <a:off x="5744299" y="1109616"/>
          <a:ext cx="748125" cy="748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8E75CB9-6109-462F-9246-8E5A36E1C80F}">
      <dsp:nvSpPr>
        <dsp:cNvPr id="0" name=""/>
        <dsp:cNvSpPr/>
      </dsp:nvSpPr>
      <dsp:spPr>
        <a:xfrm>
          <a:off x="5049612" y="2541741"/>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 Data Modeling &amp; </a:t>
          </a:r>
          <a:r>
            <a:rPr lang="en-US" sz="1800" kern="1200" dirty="0">
              <a:latin typeface="Times New Roman" panose="02020603050405020304" pitchFamily="18" charset="0"/>
              <a:cs typeface="Times New Roman" panose="02020603050405020304" pitchFamily="18" charset="0"/>
            </a:rPr>
            <a:t>Visualization</a:t>
          </a:r>
          <a:r>
            <a:rPr lang="en-US" sz="1800" kern="1200" dirty="0"/>
            <a:t> Techniques</a:t>
          </a:r>
        </a:p>
      </dsp:txBody>
      <dsp:txXfrm>
        <a:off x="5049612" y="2541741"/>
        <a:ext cx="21375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D5EF75-D568-4762-9B5D-737F64DD0ADA}" type="datetimeFigureOut">
              <a:rPr lang="en-IN" smtClean="0"/>
              <a:t>16-12-2025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05AFB7-FA57-4CA5-B401-F307AF50DEA7}" type="slidenum">
              <a:rPr lang="en-IN" smtClean="0"/>
              <a:t>‹#›</a:t>
            </a:fld>
            <a:endParaRPr lang="en-IN"/>
          </a:p>
        </p:txBody>
      </p:sp>
    </p:spTree>
    <p:extLst>
      <p:ext uri="{BB962C8B-B14F-4D97-AF65-F5344CB8AC3E}">
        <p14:creationId xmlns:p14="http://schemas.microsoft.com/office/powerpoint/2010/main" val="2182722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B05AFB7-FA57-4CA5-B401-F307AF50DEA7}" type="slidenum">
              <a:rPr lang="en-IN" smtClean="0"/>
              <a:t>7</a:t>
            </a:fld>
            <a:endParaRPr lang="en-IN"/>
          </a:p>
        </p:txBody>
      </p:sp>
    </p:spTree>
    <p:extLst>
      <p:ext uri="{BB962C8B-B14F-4D97-AF65-F5344CB8AC3E}">
        <p14:creationId xmlns:p14="http://schemas.microsoft.com/office/powerpoint/2010/main" val="1674296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9527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8623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9005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24180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4521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60237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8134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35144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1251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6735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93513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193209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629402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7185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89739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0703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12/16/2025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296395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30300" y="1397000"/>
            <a:ext cx="5825202" cy="2653836"/>
          </a:xfrm>
        </p:spPr>
        <p:txBody>
          <a:bodyPr>
            <a:normAutofit/>
          </a:bodyPr>
          <a:lstStyle/>
          <a:p>
            <a:r>
              <a:t>Spotify Analytics Dashboard Report</a:t>
            </a:r>
            <a:endParaRPr lang="en-IN"/>
          </a:p>
        </p:txBody>
      </p:sp>
      <p:sp>
        <p:nvSpPr>
          <p:cNvPr id="3" name="Subtitle 2"/>
          <p:cNvSpPr>
            <a:spLocks noGrp="1"/>
          </p:cNvSpPr>
          <p:nvPr>
            <p:ph type="subTitle" idx="1"/>
          </p:nvPr>
        </p:nvSpPr>
        <p:spPr>
          <a:xfrm>
            <a:off x="1130300" y="4050833"/>
            <a:ext cx="5825202" cy="1096899"/>
          </a:xfrm>
        </p:spPr>
        <p:txBody>
          <a:bodyPr>
            <a:normAutofit/>
          </a:bodyPr>
          <a:lstStyle/>
          <a:p>
            <a:r>
              <a:rPr lang="en-US" sz="2000" b="1" dirty="0"/>
              <a:t>Music Streaming Insights &amp; Trends</a:t>
            </a:r>
          </a:p>
          <a:p>
            <a:r>
              <a:rPr lang="en-US" dirty="0"/>
              <a:t>Power BI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00126" y="609600"/>
            <a:ext cx="6447501" cy="1320800"/>
          </a:xfrm>
        </p:spPr>
        <p:txBody>
          <a:bodyPr>
            <a:normAutofit/>
          </a:bodyPr>
          <a:lstStyle/>
          <a:p>
            <a:r>
              <a:rPr dirty="0"/>
              <a:t>Introduction &amp; Objective</a:t>
            </a:r>
          </a:p>
        </p:txBody>
      </p:sp>
      <p:sp>
        <p:nvSpPr>
          <p:cNvPr id="3" name="Content Placeholder 2"/>
          <p:cNvSpPr>
            <a:spLocks noGrp="1"/>
          </p:cNvSpPr>
          <p:nvPr>
            <p:ph idx="1"/>
          </p:nvPr>
        </p:nvSpPr>
        <p:spPr>
          <a:xfrm>
            <a:off x="1000125" y="1488613"/>
            <a:ext cx="6447501" cy="3880773"/>
          </a:xfrm>
        </p:spPr>
        <p:txBody>
          <a:bodyPr>
            <a:noAutofit/>
          </a:bodyPr>
          <a:lstStyle/>
          <a:p>
            <a:pPr marL="0" indent="0">
              <a:buNone/>
            </a:pPr>
            <a:r>
              <a:rPr lang="en-US" sz="1700" dirty="0">
                <a:latin typeface="Times New Roman" panose="02020603050405020304" pitchFamily="18" charset="0"/>
                <a:cs typeface="Times New Roman" panose="02020603050405020304" pitchFamily="18" charset="0"/>
              </a:rPr>
              <a:t>This project leverages Power BI to analyze Spotify’s music data and transform it into meaningful visual insights. By examining key attributes such as track popularity, artist performance, genre trends, and listener behavior, the dashboard provides a comprehensive view of music consumption patterns on digital streaming platforms. The analysis highlights how data visualization can support better understanding of content performance and audience preferences.</a:t>
            </a:r>
          </a:p>
          <a:p>
            <a:pPr marL="0" indent="0">
              <a:buNone/>
            </a:pPr>
            <a:r>
              <a:rPr lang="en-US" sz="1700" dirty="0">
                <a:latin typeface="Times New Roman" panose="02020603050405020304" pitchFamily="18" charset="0"/>
                <a:cs typeface="Times New Roman" panose="02020603050405020304" pitchFamily="18" charset="0"/>
              </a:rPr>
              <a:t>The primary objective of this project is to:</a:t>
            </a:r>
          </a:p>
          <a:p>
            <a:r>
              <a:rPr lang="en-US" sz="1700" dirty="0">
                <a:latin typeface="Times New Roman" panose="02020603050405020304" pitchFamily="18" charset="0"/>
                <a:cs typeface="Times New Roman" panose="02020603050405020304" pitchFamily="18" charset="0"/>
              </a:rPr>
              <a:t>Analyze Spotify music data to identify trends in song popularity and artist influence</a:t>
            </a:r>
          </a:p>
          <a:p>
            <a:r>
              <a:rPr lang="en-US" sz="1700" dirty="0">
                <a:latin typeface="Times New Roman" panose="02020603050405020304" pitchFamily="18" charset="0"/>
                <a:cs typeface="Times New Roman" panose="02020603050405020304" pitchFamily="18" charset="0"/>
              </a:rPr>
              <a:t>Evaluate genre-wise performance and listener engagement patterns</a:t>
            </a:r>
          </a:p>
          <a:p>
            <a:r>
              <a:rPr lang="en-US" sz="1700" dirty="0">
                <a:latin typeface="Times New Roman" panose="02020603050405020304" pitchFamily="18" charset="0"/>
                <a:cs typeface="Times New Roman" panose="02020603050405020304" pitchFamily="18" charset="0"/>
              </a:rPr>
              <a:t>Understand the relationship between track characteristics and popularity</a:t>
            </a:r>
          </a:p>
          <a:p>
            <a:r>
              <a:rPr lang="en-US" sz="1700" dirty="0">
                <a:latin typeface="Times New Roman" panose="02020603050405020304" pitchFamily="18" charset="0"/>
                <a:cs typeface="Times New Roman" panose="02020603050405020304" pitchFamily="18" charset="0"/>
              </a:rPr>
              <a:t>Demonstrate the use of Power BI dashboards for data-driven decision-making in digital music platforms</a:t>
            </a:r>
          </a:p>
          <a:p>
            <a:pPr marL="0" indent="0">
              <a:buNone/>
            </a:pPr>
            <a:endParaRPr lang="en-US"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5199" y="609600"/>
            <a:ext cx="7648121" cy="1099457"/>
          </a:xfrm>
        </p:spPr>
        <p:txBody>
          <a:bodyPr>
            <a:normAutofit/>
          </a:bodyPr>
          <a:lstStyle/>
          <a:p>
            <a:r>
              <a:t>Tools Used</a:t>
            </a:r>
          </a:p>
        </p:txBody>
      </p:sp>
      <p:graphicFrame>
        <p:nvGraphicFramePr>
          <p:cNvPr id="18" name="Content Placeholder 2">
            <a:extLst>
              <a:ext uri="{FF2B5EF4-FFF2-40B4-BE49-F238E27FC236}">
                <a16:creationId xmlns:a16="http://schemas.microsoft.com/office/drawing/2014/main" id="{4388D675-D952-46DE-7D25-7F22E0D2D7F0}"/>
              </a:ext>
            </a:extLst>
          </p:cNvPr>
          <p:cNvGraphicFramePr>
            <a:graphicFrameLocks noGrp="1"/>
          </p:cNvGraphicFramePr>
          <p:nvPr>
            <p:ph idx="1"/>
            <p:extLst>
              <p:ext uri="{D42A27DB-BD31-4B8C-83A1-F6EECF244321}">
                <p14:modId xmlns:p14="http://schemas.microsoft.com/office/powerpoint/2010/main" val="716348136"/>
              </p:ext>
            </p:extLst>
          </p:nvPr>
        </p:nvGraphicFramePr>
        <p:xfrm>
          <a:off x="483418" y="1850221"/>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 </a:t>
            </a:r>
            <a:r>
              <a:rPr lang="en-IN" dirty="0"/>
              <a:t>Structure </a:t>
            </a:r>
            <a:endParaRPr dirty="0"/>
          </a:p>
        </p:txBody>
      </p:sp>
      <p:sp>
        <p:nvSpPr>
          <p:cNvPr id="3" name="Content Placeholder 2"/>
          <p:cNvSpPr>
            <a:spLocks noGrp="1"/>
          </p:cNvSpPr>
          <p:nvPr>
            <p:ph idx="1"/>
          </p:nvPr>
        </p:nvSpPr>
        <p:spPr>
          <a:xfrm>
            <a:off x="609599" y="1670305"/>
            <a:ext cx="6347714" cy="4462271"/>
          </a:xfrm>
        </p:spPr>
        <p:txBody>
          <a:bodyPr>
            <a:noAutofit/>
          </a:bodyPr>
          <a:lstStyle/>
          <a:p>
            <a:pPr marL="0" indent="0">
              <a:buNone/>
            </a:pPr>
            <a:r>
              <a:rPr lang="en-US" sz="1600" dirty="0">
                <a:latin typeface="Times New Roman" panose="02020603050405020304" pitchFamily="18" charset="0"/>
                <a:cs typeface="Times New Roman" panose="02020603050405020304" pitchFamily="18" charset="0"/>
              </a:rPr>
              <a:t>The dataset consists of structured Spotify music data capturing key attributes related to tracks, artists, albums, genres, and popularity metrics. It is designed to support multi-level analysis across content performance and listener trends.</a:t>
            </a:r>
          </a:p>
          <a:p>
            <a:pPr marL="0" indent="0">
              <a:buNone/>
            </a:pPr>
            <a:r>
              <a:rPr lang="en-IN" sz="1400" dirty="0">
                <a:latin typeface="Times New Roman" panose="02020603050405020304" pitchFamily="18" charset="0"/>
                <a:cs typeface="Times New Roman" panose="02020603050405020304" pitchFamily="18" charset="0"/>
              </a:rPr>
              <a:t>Key Components of the Dataset:</a:t>
            </a:r>
          </a:p>
          <a:p>
            <a:r>
              <a:rPr lang="en-IN" sz="1400" dirty="0">
                <a:latin typeface="Times New Roman" panose="02020603050405020304" pitchFamily="18" charset="0"/>
                <a:cs typeface="Times New Roman" panose="02020603050405020304" pitchFamily="18" charset="0"/>
              </a:rPr>
              <a:t>Track-level details: track ID, track name, duration (minutes), explicit flag</a:t>
            </a:r>
          </a:p>
          <a:p>
            <a:r>
              <a:rPr lang="en-IN" sz="1400" dirty="0">
                <a:latin typeface="Times New Roman" panose="02020603050405020304" pitchFamily="18" charset="0"/>
                <a:cs typeface="Times New Roman" panose="02020603050405020304" pitchFamily="18" charset="0"/>
              </a:rPr>
              <a:t>Artist information: artist name, artist popularity score, follower count</a:t>
            </a:r>
          </a:p>
          <a:p>
            <a:r>
              <a:rPr lang="en-IN" sz="1400" dirty="0">
                <a:latin typeface="Times New Roman" panose="02020603050405020304" pitchFamily="18" charset="0"/>
                <a:cs typeface="Times New Roman" panose="02020603050405020304" pitchFamily="18" charset="0"/>
              </a:rPr>
              <a:t>Album attributes: album name, album type (single, album, compilation)</a:t>
            </a:r>
          </a:p>
          <a:p>
            <a:r>
              <a:rPr lang="en-IN" sz="1400" dirty="0">
                <a:latin typeface="Times New Roman" panose="02020603050405020304" pitchFamily="18" charset="0"/>
                <a:cs typeface="Times New Roman" panose="02020603050405020304" pitchFamily="18" charset="0"/>
              </a:rPr>
              <a:t>Genre classification: primary and combined genre labels</a:t>
            </a:r>
          </a:p>
          <a:p>
            <a:r>
              <a:rPr lang="en-IN" sz="1400" dirty="0">
                <a:latin typeface="Times New Roman" panose="02020603050405020304" pitchFamily="18" charset="0"/>
                <a:cs typeface="Times New Roman" panose="02020603050405020304" pitchFamily="18" charset="0"/>
              </a:rPr>
              <a:t>Popularity metrics: track popularity and artist popularity scores</a:t>
            </a:r>
          </a:p>
          <a:p>
            <a:r>
              <a:rPr lang="en-IN" sz="1400" dirty="0">
                <a:latin typeface="Times New Roman" panose="02020603050405020304" pitchFamily="18" charset="0"/>
                <a:cs typeface="Times New Roman" panose="02020603050405020304" pitchFamily="18" charset="0"/>
              </a:rPr>
              <a:t>Time dimension: release year for trend-based analysis</a:t>
            </a:r>
          </a:p>
          <a:p>
            <a:r>
              <a:rPr lang="en-IN" sz="1400" dirty="0">
                <a:latin typeface="Times New Roman" panose="02020603050405020304" pitchFamily="18" charset="0"/>
                <a:cs typeface="Times New Roman" panose="02020603050405020304" pitchFamily="18" charset="0"/>
              </a:rPr>
              <a:t>This structured format enables trend analysis, correlation studies, and KPI-based reporting in Power BI.</a:t>
            </a:r>
          </a:p>
          <a:p>
            <a:pPr marL="0" indent="0">
              <a:buNone/>
            </a:pPr>
            <a:endParaRP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Validation &amp; Cleaning</a:t>
            </a:r>
            <a:endParaRPr dirty="0"/>
          </a:p>
        </p:txBody>
      </p:sp>
      <p:sp>
        <p:nvSpPr>
          <p:cNvPr id="3" name="Content Placeholder 2"/>
          <p:cNvSpPr>
            <a:spLocks noGrp="1"/>
          </p:cNvSpPr>
          <p:nvPr>
            <p:ph idx="1"/>
          </p:nvPr>
        </p:nvSpPr>
        <p:spPr>
          <a:xfrm>
            <a:off x="609599" y="1674368"/>
            <a:ext cx="6347714" cy="4432019"/>
          </a:xfrm>
        </p:spPr>
        <p:txBody>
          <a:bodyPr>
            <a:normAutofit fontScale="85000" lnSpcReduction="10000"/>
          </a:bodyPr>
          <a:lstStyle/>
          <a:p>
            <a:pPr marL="0" indent="0">
              <a:buNone/>
            </a:pPr>
            <a:r>
              <a:rPr lang="en-US" dirty="0">
                <a:latin typeface="Times New Roman" panose="02020603050405020304" pitchFamily="18" charset="0"/>
                <a:cs typeface="Times New Roman" panose="02020603050405020304" pitchFamily="18" charset="0"/>
              </a:rPr>
              <a:t>To ensure accuracy, consistency, and reliability of insights, the dataset underwent a systematic validation and cleaning process before visualization.</a:t>
            </a:r>
          </a:p>
          <a:p>
            <a:pPr marL="0" indent="0">
              <a:buNone/>
            </a:pPr>
            <a:r>
              <a:rPr lang="en-US" dirty="0">
                <a:latin typeface="Times New Roman" panose="02020603050405020304" pitchFamily="18" charset="0"/>
                <a:cs typeface="Times New Roman" panose="02020603050405020304" pitchFamily="18" charset="0"/>
              </a:rPr>
              <a:t>Validation &amp; Cleaning Steps Performed:</a:t>
            </a:r>
          </a:p>
          <a:p>
            <a:r>
              <a:rPr lang="en-US" dirty="0">
                <a:latin typeface="Times New Roman" panose="02020603050405020304" pitchFamily="18" charset="0"/>
                <a:cs typeface="Times New Roman" panose="02020603050405020304" pitchFamily="18" charset="0"/>
              </a:rPr>
              <a:t>Verified missing and null values, especially in genre and popularity fields</a:t>
            </a:r>
          </a:p>
          <a:p>
            <a:r>
              <a:rPr lang="en-US" dirty="0">
                <a:latin typeface="Times New Roman" panose="02020603050405020304" pitchFamily="18" charset="0"/>
                <a:cs typeface="Times New Roman" panose="02020603050405020304" pitchFamily="18" charset="0"/>
              </a:rPr>
              <a:t>Standardized track duration values into minutes for consistency</a:t>
            </a:r>
          </a:p>
          <a:p>
            <a:r>
              <a:rPr lang="en-US" dirty="0">
                <a:latin typeface="Times New Roman" panose="02020603050405020304" pitchFamily="18" charset="0"/>
                <a:cs typeface="Times New Roman" panose="02020603050405020304" pitchFamily="18" charset="0"/>
              </a:rPr>
              <a:t>Validated popularity score ranges to ensure logical limits</a:t>
            </a:r>
          </a:p>
          <a:p>
            <a:r>
              <a:rPr lang="en-US" dirty="0">
                <a:latin typeface="Times New Roman" panose="02020603050405020304" pitchFamily="18" charset="0"/>
                <a:cs typeface="Times New Roman" panose="02020603050405020304" pitchFamily="18" charset="0"/>
              </a:rPr>
              <a:t>Identified and categorized undefined or mixed genres (N/A)</a:t>
            </a:r>
          </a:p>
          <a:p>
            <a:r>
              <a:rPr lang="en-US" dirty="0">
                <a:latin typeface="Times New Roman" panose="02020603050405020304" pitchFamily="18" charset="0"/>
                <a:cs typeface="Times New Roman" panose="02020603050405020304" pitchFamily="18" charset="0"/>
              </a:rPr>
              <a:t>Checked consistency between artist popularity and follower count</a:t>
            </a:r>
          </a:p>
          <a:p>
            <a:r>
              <a:rPr lang="en-US" dirty="0">
                <a:latin typeface="Times New Roman" panose="02020603050405020304" pitchFamily="18" charset="0"/>
                <a:cs typeface="Times New Roman" panose="02020603050405020304" pitchFamily="18" charset="0"/>
              </a:rPr>
              <a:t>Ensured uniform formatting of text fields (artist names, genres, album types)</a:t>
            </a:r>
          </a:p>
          <a:p>
            <a:r>
              <a:rPr lang="en-US" dirty="0">
                <a:latin typeface="Times New Roman" panose="02020603050405020304" pitchFamily="18" charset="0"/>
                <a:cs typeface="Times New Roman" panose="02020603050405020304" pitchFamily="18" charset="0"/>
              </a:rPr>
              <a:t>Removed duplicate or inconsistent records where applicable</a:t>
            </a:r>
          </a:p>
          <a:p>
            <a:r>
              <a:rPr lang="en-US" dirty="0">
                <a:latin typeface="Times New Roman" panose="02020603050405020304" pitchFamily="18" charset="0"/>
                <a:cs typeface="Times New Roman" panose="02020603050405020304" pitchFamily="18" charset="0"/>
              </a:rPr>
              <a:t>Outcome: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clean, reliable dataset ready for Power BI modeling, enabling accurate KPI calculation and meaningful visual insights.</a:t>
            </a:r>
          </a:p>
          <a:p>
            <a:pPr marL="0" indent="0">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98676-03CA-095B-90B6-A1A66EE94714}"/>
              </a:ext>
            </a:extLst>
          </p:cNvPr>
          <p:cNvSpPr>
            <a:spLocks noGrp="1"/>
          </p:cNvSpPr>
          <p:nvPr>
            <p:ph type="ctrTitle"/>
          </p:nvPr>
        </p:nvSpPr>
        <p:spPr>
          <a:xfrm>
            <a:off x="1189589" y="2684207"/>
            <a:ext cx="5826719" cy="1012668"/>
          </a:xfrm>
        </p:spPr>
        <p:txBody>
          <a:bodyPr/>
          <a:lstStyle/>
          <a:p>
            <a:pPr algn="ctr"/>
            <a:r>
              <a:rPr lang="en-IN" sz="4400" b="1" dirty="0">
                <a:solidFill>
                  <a:schemeClr val="tx1"/>
                </a:solidFill>
                <a:latin typeface="Calibri" panose="020F0502020204030204" pitchFamily="34" charset="0"/>
                <a:ea typeface="Calibri" panose="020F0502020204030204" pitchFamily="34" charset="0"/>
                <a:cs typeface="Calibri" panose="020F0502020204030204" pitchFamily="34" charset="0"/>
              </a:rPr>
              <a:t>KPI Overview</a:t>
            </a:r>
          </a:p>
        </p:txBody>
      </p:sp>
    </p:spTree>
    <p:extLst>
      <p:ext uri="{BB962C8B-B14F-4D97-AF65-F5344CB8AC3E}">
        <p14:creationId xmlns:p14="http://schemas.microsoft.com/office/powerpoint/2010/main" val="850586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3D34DAB-1673-5BD9-5982-5C89CDE56C72}"/>
              </a:ext>
            </a:extLst>
          </p:cNvPr>
          <p:cNvSpPr>
            <a:spLocks noGrp="1"/>
          </p:cNvSpPr>
          <p:nvPr>
            <p:ph type="title"/>
          </p:nvPr>
        </p:nvSpPr>
        <p:spPr/>
        <p:txBody>
          <a:bodyPr>
            <a:noAutofit/>
          </a:bodyPr>
          <a:lstStyle/>
          <a:p>
            <a:r>
              <a:rPr lang="en-US" sz="1800" dirty="0">
                <a:solidFill>
                  <a:schemeClr val="tx1"/>
                </a:solidFill>
                <a:latin typeface="Times New Roman" panose="02020603050405020304" pitchFamily="18" charset="0"/>
                <a:cs typeface="Times New Roman" panose="02020603050405020304" pitchFamily="18" charset="0"/>
              </a:rPr>
              <a:t>The KPI section provides a high-level summary of Spotify’s music dataset, highlighting key metrics that represent content volume, popularity, artist influence, and track characteristics. These indicators help in quickly assessing overall platform performance and content trends.</a:t>
            </a:r>
            <a:br>
              <a:rPr lang="en-US" sz="1800" dirty="0">
                <a:solidFill>
                  <a:schemeClr val="tx1"/>
                </a:solidFill>
                <a:latin typeface="Times New Roman" panose="02020603050405020304" pitchFamily="18" charset="0"/>
                <a:cs typeface="Times New Roman" panose="02020603050405020304" pitchFamily="18" charset="0"/>
              </a:rPr>
            </a:br>
            <a:endParaRPr lang="en-IN" sz="18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599" y="2160591"/>
            <a:ext cx="6347714" cy="3667185"/>
          </a:xfrm>
        </p:spPr>
        <p:txBody>
          <a:bodyPr>
            <a:noAutofit/>
          </a:bodyPr>
          <a:lstStyle/>
          <a:p>
            <a:r>
              <a:rPr lang="en-US" sz="1600" dirty="0">
                <a:latin typeface="Times New Roman" panose="02020603050405020304" pitchFamily="18" charset="0"/>
                <a:cs typeface="Times New Roman" panose="02020603050405020304" pitchFamily="18" charset="0"/>
              </a:rPr>
              <a:t>Total Tracks – representing the overall volume of songs available in the dataset</a:t>
            </a:r>
          </a:p>
          <a:p>
            <a:r>
              <a:rPr lang="en-US" sz="1600" dirty="0">
                <a:latin typeface="Times New Roman" panose="02020603050405020304" pitchFamily="18" charset="0"/>
                <a:cs typeface="Times New Roman" panose="02020603050405020304" pitchFamily="18" charset="0"/>
              </a:rPr>
              <a:t>Average Track Popularity – indicating the overall popularity level of tracks</a:t>
            </a:r>
          </a:p>
          <a:p>
            <a:r>
              <a:rPr lang="en-US" sz="1600" dirty="0">
                <a:latin typeface="Times New Roman" panose="02020603050405020304" pitchFamily="18" charset="0"/>
                <a:cs typeface="Times New Roman" panose="02020603050405020304" pitchFamily="18" charset="0"/>
              </a:rPr>
              <a:t>Average Artist Popularity – reflecting artist influence and listener engagement</a:t>
            </a:r>
          </a:p>
          <a:p>
            <a:r>
              <a:rPr lang="en-US" sz="1600" dirty="0">
                <a:latin typeface="Times New Roman" panose="02020603050405020304" pitchFamily="18" charset="0"/>
                <a:cs typeface="Times New Roman" panose="02020603050405020304" pitchFamily="18" charset="0"/>
              </a:rPr>
              <a:t>Total Artist Followers – measuring the cumulative audience reach across artists	</a:t>
            </a:r>
          </a:p>
          <a:p>
            <a:endParaRPr lang="en-IN" sz="1600" dirty="0">
              <a:latin typeface="Times New Roman" panose="02020603050405020304" pitchFamily="18" charset="0"/>
              <a:cs typeface="Times New Roman" panose="02020603050405020304" pitchFamily="18" charset="0"/>
            </a:endParaRPr>
          </a:p>
        </p:txBody>
      </p:sp>
      <p:pic>
        <p:nvPicPr>
          <p:cNvPr id="14" name="Picture 13" descr="A digital clock with numbers and a black background&#10;&#10;AI-generated content may be incorrect.">
            <a:extLst>
              <a:ext uri="{FF2B5EF4-FFF2-40B4-BE49-F238E27FC236}">
                <a16:creationId xmlns:a16="http://schemas.microsoft.com/office/drawing/2014/main" id="{058673EB-AFDC-78FF-6376-2BDE5AF68AA0}"/>
              </a:ext>
            </a:extLst>
          </p:cNvPr>
          <p:cNvPicPr>
            <a:picLocks noChangeAspect="1"/>
          </p:cNvPicPr>
          <p:nvPr/>
        </p:nvPicPr>
        <p:blipFill>
          <a:blip r:embed="rId3"/>
          <a:stretch>
            <a:fillRect/>
          </a:stretch>
        </p:blipFill>
        <p:spPr>
          <a:xfrm>
            <a:off x="609599" y="4883286"/>
            <a:ext cx="6611436" cy="9444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63DD0-965F-2E5D-0720-D7E58DA97B36}"/>
              </a:ext>
            </a:extLst>
          </p:cNvPr>
          <p:cNvSpPr>
            <a:spLocks noGrp="1"/>
          </p:cNvSpPr>
          <p:nvPr>
            <p:ph type="title"/>
          </p:nvPr>
        </p:nvSpPr>
        <p:spPr>
          <a:xfrm>
            <a:off x="1175674" y="2881480"/>
            <a:ext cx="5825202" cy="621836"/>
          </a:xfrm>
        </p:spPr>
        <p:txBody>
          <a:bodyPr vert="horz" lIns="91440" tIns="45720" rIns="91440" bIns="45720" rtlCol="0" anchor="b">
            <a:normAutofit fontScale="90000"/>
          </a:bodyPr>
          <a:lstStyle/>
          <a:p>
            <a:pPr algn="ctr"/>
            <a:r>
              <a:rPr lang="en-US" sz="4400" b="1" dirty="0">
                <a:solidFill>
                  <a:schemeClr val="tx1"/>
                </a:solidFill>
                <a:latin typeface="Calibri" panose="020F0502020204030204" pitchFamily="34" charset="0"/>
                <a:ea typeface="Calibri" panose="020F0502020204030204" pitchFamily="34" charset="0"/>
                <a:cs typeface="Calibri" panose="020F0502020204030204" pitchFamily="34" charset="0"/>
              </a:rPr>
              <a:t>Visualizations</a:t>
            </a:r>
            <a:endParaRPr lang="en-US" sz="4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79061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latin typeface="Calibri" panose="020F0502020204030204" pitchFamily="34" charset="0"/>
                <a:ea typeface="Calibri" panose="020F0502020204030204" pitchFamily="34" charset="0"/>
                <a:cs typeface="Calibri" panose="020F0502020204030204" pitchFamily="34" charset="0"/>
              </a:rPr>
              <a:t>Analysis 1: </a:t>
            </a:r>
            <a:r>
              <a:rPr sz="2800" dirty="0">
                <a:latin typeface="Calibri" panose="020F0502020204030204" pitchFamily="34" charset="0"/>
                <a:ea typeface="Calibri" panose="020F0502020204030204" pitchFamily="34" charset="0"/>
                <a:cs typeface="Calibri" panose="020F0502020204030204" pitchFamily="34" charset="0"/>
              </a:rPr>
              <a:t>Popularity Trend by Year</a:t>
            </a:r>
          </a:p>
        </p:txBody>
      </p:sp>
      <p:sp>
        <p:nvSpPr>
          <p:cNvPr id="3" name="Content Placeholder 2"/>
          <p:cNvSpPr>
            <a:spLocks noGrp="1"/>
          </p:cNvSpPr>
          <p:nvPr>
            <p:ph idx="1"/>
          </p:nvPr>
        </p:nvSpPr>
        <p:spPr>
          <a:xfrm>
            <a:off x="609599" y="1474840"/>
            <a:ext cx="6347714" cy="4773560"/>
          </a:xfrm>
        </p:spPr>
        <p:txBody>
          <a:bodyPr>
            <a:normAutofit/>
          </a:bodyPr>
          <a:lstStyle/>
          <a:p>
            <a:r>
              <a:rPr lang="en-US" sz="1200" b="1" dirty="0">
                <a:latin typeface="Times New Roman" panose="02020603050405020304" pitchFamily="18" charset="0"/>
                <a:cs typeface="Times New Roman" panose="02020603050405020304" pitchFamily="18" charset="0"/>
              </a:rPr>
              <a:t>Steady rise in track releases from the late 1990s</a:t>
            </a:r>
            <a:r>
              <a:rPr lang="en-US" sz="1200" dirty="0">
                <a:latin typeface="Times New Roman" panose="02020603050405020304" pitchFamily="18" charset="0"/>
                <a:cs typeface="Times New Roman" panose="02020603050405020304" pitchFamily="18" charset="0"/>
              </a:rPr>
              <a:t> Reflects growing accessibility of digital music creation and distribution.</a:t>
            </a:r>
          </a:p>
          <a:p>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Sharp surge after 2000</a:t>
            </a:r>
            <a:r>
              <a:rPr lang="en-US" sz="1200" dirty="0">
                <a:latin typeface="Times New Roman" panose="02020603050405020304" pitchFamily="18" charset="0"/>
                <a:cs typeface="Times New Roman" panose="02020603050405020304" pitchFamily="18" charset="0"/>
              </a:rPr>
              <a:t> Driven by the MP3 revolution, online downloads, and global digital reach.</a:t>
            </a:r>
          </a:p>
          <a:p>
            <a:r>
              <a:rPr lang="en-US" sz="1200" b="1" dirty="0">
                <a:latin typeface="Times New Roman" panose="02020603050405020304" pitchFamily="18" charset="0"/>
                <a:cs typeface="Times New Roman" panose="02020603050405020304" pitchFamily="18" charset="0"/>
              </a:rPr>
              <a:t>Major acceleration between 2010–2020</a:t>
            </a:r>
            <a:r>
              <a:rPr lang="en-US" sz="1200" dirty="0">
                <a:latin typeface="Times New Roman" panose="02020603050405020304" pitchFamily="18" charset="0"/>
                <a:cs typeface="Times New Roman" panose="02020603050405020304" pitchFamily="18" charset="0"/>
              </a:rPr>
              <a:t> Streaming platforms like Spotify dominate, encouraging frequent releases—especially singles.</a:t>
            </a:r>
          </a:p>
          <a:p>
            <a:r>
              <a:rPr lang="en-US" sz="1200" b="1" dirty="0">
                <a:latin typeface="Times New Roman" panose="02020603050405020304" pitchFamily="18" charset="0"/>
                <a:cs typeface="Times New Roman" panose="02020603050405020304" pitchFamily="18" charset="0"/>
              </a:rPr>
              <a:t>Rise of independent artists</a:t>
            </a:r>
            <a:r>
              <a:rPr lang="en-US" sz="1200" dirty="0">
                <a:latin typeface="Times New Roman" panose="02020603050405020304" pitchFamily="18" charset="0"/>
                <a:cs typeface="Times New Roman" panose="02020603050405020304" pitchFamily="18" charset="0"/>
              </a:rPr>
              <a:t> Lower entry barriers allow more creators to publish music without traditional labels.</a:t>
            </a:r>
          </a:p>
          <a:p>
            <a:r>
              <a:rPr lang="en-US" sz="1200" b="1" dirty="0">
                <a:latin typeface="Times New Roman" panose="02020603050405020304" pitchFamily="18" charset="0"/>
                <a:cs typeface="Times New Roman" panose="02020603050405020304" pitchFamily="18" charset="0"/>
              </a:rPr>
              <a:t>Recent years show content saturation</a:t>
            </a:r>
            <a:r>
              <a:rPr lang="en-US" sz="1200" dirty="0">
                <a:latin typeface="Times New Roman" panose="02020603050405020304" pitchFamily="18" charset="0"/>
                <a:cs typeface="Times New Roman" panose="02020603050405020304" pitchFamily="18" charset="0"/>
              </a:rPr>
              <a:t> High volume of releases but tougher competition for visibility and popularity.</a:t>
            </a:r>
          </a:p>
          <a:p>
            <a:r>
              <a:rPr lang="en-US" sz="1200" b="1" dirty="0">
                <a:latin typeface="Times New Roman" panose="02020603050405020304" pitchFamily="18" charset="0"/>
                <a:cs typeface="Times New Roman" panose="02020603050405020304" pitchFamily="18" charset="0"/>
              </a:rPr>
              <a:t>Only a small fraction of tracks achieve high popularity</a:t>
            </a:r>
            <a:r>
              <a:rPr lang="en-US" sz="1200" dirty="0">
                <a:latin typeface="Times New Roman" panose="02020603050405020304" pitchFamily="18" charset="0"/>
                <a:cs typeface="Times New Roman" panose="02020603050405020304" pitchFamily="18" charset="0"/>
              </a:rPr>
              <a:t> Highlights the competitive nature of modern music streaming.</a:t>
            </a:r>
          </a:p>
        </p:txBody>
      </p:sp>
      <p:pic>
        <p:nvPicPr>
          <p:cNvPr id="5" name="Picture 4" descr="A screen shot of a graph&#10;&#10;AI-generated content may be incorrect.">
            <a:extLst>
              <a:ext uri="{FF2B5EF4-FFF2-40B4-BE49-F238E27FC236}">
                <a16:creationId xmlns:a16="http://schemas.microsoft.com/office/drawing/2014/main" id="{23C5E394-027D-A560-C519-1AAAB057D611}"/>
              </a:ext>
            </a:extLst>
          </p:cNvPr>
          <p:cNvPicPr>
            <a:picLocks noChangeAspect="1"/>
          </p:cNvPicPr>
          <p:nvPr/>
        </p:nvPicPr>
        <p:blipFill>
          <a:blip r:embed="rId2"/>
          <a:stretch>
            <a:fillRect/>
          </a:stretch>
        </p:blipFill>
        <p:spPr>
          <a:xfrm>
            <a:off x="953729" y="4542503"/>
            <a:ext cx="6063555" cy="16236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1277" y="313242"/>
            <a:ext cx="6347713" cy="5299587"/>
          </a:xfrm>
        </p:spPr>
        <p:txBody>
          <a:bodyPr>
            <a:normAutofit/>
          </a:bodyPr>
          <a:lstStyle/>
          <a:p>
            <a:r>
              <a:rPr lang="en-IN" sz="2800" b="1" dirty="0">
                <a:latin typeface="Calibri" panose="020F0502020204030204" pitchFamily="34" charset="0"/>
                <a:ea typeface="Calibri" panose="020F0502020204030204" pitchFamily="34" charset="0"/>
                <a:cs typeface="Calibri" panose="020F0502020204030204" pitchFamily="34" charset="0"/>
              </a:rPr>
              <a:t>Analysis 2: </a:t>
            </a:r>
            <a:r>
              <a:rPr sz="2800" dirty="0">
                <a:latin typeface="Calibri" panose="020F0502020204030204" pitchFamily="34" charset="0"/>
                <a:ea typeface="Calibri" panose="020F0502020204030204" pitchFamily="34" charset="0"/>
                <a:cs typeface="Calibri" panose="020F0502020204030204" pitchFamily="34" charset="0"/>
              </a:rPr>
              <a:t>Artist Performance Analysis</a:t>
            </a:r>
          </a:p>
        </p:txBody>
      </p:sp>
      <p:sp>
        <p:nvSpPr>
          <p:cNvPr id="3" name="Content Placeholder 2"/>
          <p:cNvSpPr>
            <a:spLocks noGrp="1"/>
          </p:cNvSpPr>
          <p:nvPr>
            <p:ph idx="1"/>
          </p:nvPr>
        </p:nvSpPr>
        <p:spPr>
          <a:xfrm>
            <a:off x="641058" y="983226"/>
            <a:ext cx="6347714" cy="4743505"/>
          </a:xfrm>
        </p:spPr>
        <p:txBody>
          <a:bodyPr>
            <a:normAutofit/>
          </a:bodyPr>
          <a:lstStyle/>
          <a:p>
            <a:pPr marL="0" indent="0">
              <a:buNone/>
            </a:pPr>
            <a:r>
              <a:rPr lang="en-US" sz="1200" b="1" dirty="0">
                <a:latin typeface="Times New Roman" panose="02020603050405020304" pitchFamily="18" charset="0"/>
                <a:cs typeface="Times New Roman" panose="02020603050405020304" pitchFamily="18" charset="0"/>
              </a:rPr>
              <a:t>Key Observations</a:t>
            </a:r>
          </a:p>
          <a:p>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Top Artists by Followers</a:t>
            </a:r>
            <a:r>
              <a:rPr lang="en-US" sz="1200" dirty="0">
                <a:latin typeface="Times New Roman" panose="02020603050405020304" pitchFamily="18" charset="0"/>
                <a:cs typeface="Times New Roman" panose="02020603050405020304" pitchFamily="18" charset="0"/>
              </a:rPr>
              <a:t> Taylor Swift, The </a:t>
            </a:r>
            <a:r>
              <a:rPr lang="en-US" sz="1200" dirty="0" err="1">
                <a:latin typeface="Times New Roman" panose="02020603050405020304" pitchFamily="18" charset="0"/>
                <a:cs typeface="Times New Roman" panose="02020603050405020304" pitchFamily="18" charset="0"/>
              </a:rPr>
              <a:t>Weeknd</a:t>
            </a:r>
            <a:r>
              <a:rPr lang="en-US" sz="1200" dirty="0">
                <a:latin typeface="Times New Roman" panose="02020603050405020304" pitchFamily="18" charset="0"/>
                <a:cs typeface="Times New Roman" panose="02020603050405020304" pitchFamily="18" charset="0"/>
              </a:rPr>
              <a:t>, and Ariana Grande lead in follower count, reflecting strong global fan bases.</a:t>
            </a:r>
          </a:p>
          <a:p>
            <a:r>
              <a:rPr lang="en-US" sz="1200" dirty="0">
                <a:latin typeface="Times New Roman" panose="02020603050405020304" pitchFamily="18" charset="0"/>
                <a:cs typeface="Times New Roman" panose="02020603050405020304" pitchFamily="18" charset="0"/>
              </a:rPr>
              <a:t> 📈 </a:t>
            </a:r>
            <a:r>
              <a:rPr lang="en-US" sz="1200" b="1" dirty="0">
                <a:latin typeface="Times New Roman" panose="02020603050405020304" pitchFamily="18" charset="0"/>
                <a:cs typeface="Times New Roman" panose="02020603050405020304" pitchFamily="18" charset="0"/>
              </a:rPr>
              <a:t>Popularity vs Followers Correlation</a:t>
            </a:r>
            <a:r>
              <a:rPr lang="en-US" sz="1200" dirty="0">
                <a:latin typeface="Times New Roman" panose="02020603050405020304" pitchFamily="18" charset="0"/>
                <a:cs typeface="Times New Roman" panose="02020603050405020304" pitchFamily="18" charset="0"/>
              </a:rPr>
              <a:t> Artists like Billie Eilish and Drake show high popularity scores aligned with large follower counts, while others like Nirvana have lower popularity despite legacy status.</a:t>
            </a:r>
          </a:p>
          <a:p>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Discography Size vs Popularity</a:t>
            </a:r>
            <a:r>
              <a:rPr lang="en-US" sz="1200" dirty="0">
                <a:latin typeface="Times New Roman" panose="02020603050405020304" pitchFamily="18" charset="0"/>
                <a:cs typeface="Times New Roman" panose="02020603050405020304" pitchFamily="18" charset="0"/>
              </a:rPr>
              <a:t> A large number of tracks doesn’t always mean higher average popularity — strategic releases matter more than volume.</a:t>
            </a:r>
          </a:p>
          <a:p>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Genre Influence on Artist Popularity</a:t>
            </a:r>
            <a:r>
              <a:rPr lang="en-US" sz="1200" dirty="0">
                <a:latin typeface="Times New Roman" panose="02020603050405020304" pitchFamily="18" charset="0"/>
                <a:cs typeface="Times New Roman" panose="02020603050405020304" pitchFamily="18" charset="0"/>
              </a:rPr>
              <a:t> Artists with genre versatility (e.g., Post Malone, Lady Gaga) maintain strong engagement across diverse audiences.</a:t>
            </a:r>
          </a:p>
          <a:p>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Emerging Artists with High Popularity</a:t>
            </a:r>
            <a:r>
              <a:rPr lang="en-US" sz="1200" dirty="0">
                <a:latin typeface="Times New Roman" panose="02020603050405020304" pitchFamily="18" charset="0"/>
                <a:cs typeface="Times New Roman" panose="02020603050405020304" pitchFamily="18" charset="0"/>
              </a:rPr>
              <a:t> Olivia Rodrigo and Tate McRae demonstrate how newer artists can achieve high popularity with fewer releases.</a:t>
            </a:r>
          </a:p>
        </p:txBody>
      </p:sp>
      <p:pic>
        <p:nvPicPr>
          <p:cNvPr id="7" name="Picture 6" descr="A green dotted graph with white text&#10;&#10;AI-generated content may be incorrect.">
            <a:extLst>
              <a:ext uri="{FF2B5EF4-FFF2-40B4-BE49-F238E27FC236}">
                <a16:creationId xmlns:a16="http://schemas.microsoft.com/office/drawing/2014/main" id="{C5485D1F-66B2-E748-6BFE-EC14186B3E2F}"/>
              </a:ext>
            </a:extLst>
          </p:cNvPr>
          <p:cNvPicPr>
            <a:picLocks noChangeAspect="1"/>
          </p:cNvPicPr>
          <p:nvPr/>
        </p:nvPicPr>
        <p:blipFill>
          <a:blip r:embed="rId2"/>
          <a:stretch>
            <a:fillRect/>
          </a:stretch>
        </p:blipFill>
        <p:spPr>
          <a:xfrm>
            <a:off x="609598" y="4306529"/>
            <a:ext cx="3205317" cy="2121207"/>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45A5E42B-CD26-586B-C614-6961AB275D16}"/>
              </a:ext>
            </a:extLst>
          </p:cNvPr>
          <p:cNvPicPr>
            <a:picLocks noChangeAspect="1"/>
          </p:cNvPicPr>
          <p:nvPr/>
        </p:nvPicPr>
        <p:blipFill>
          <a:blip r:embed="rId3"/>
          <a:stretch>
            <a:fillRect/>
          </a:stretch>
        </p:blipFill>
        <p:spPr>
          <a:xfrm>
            <a:off x="3908322" y="4306529"/>
            <a:ext cx="3048990" cy="21794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288" y="267545"/>
            <a:ext cx="6347713" cy="1320800"/>
          </a:xfrm>
        </p:spPr>
        <p:txBody>
          <a:bodyPr>
            <a:normAutofit/>
          </a:bodyPr>
          <a:lstStyle/>
          <a:p>
            <a:r>
              <a:rPr lang="en-IN" sz="3200" b="1" dirty="0">
                <a:latin typeface="Calibri" panose="020F0502020204030204" pitchFamily="34" charset="0"/>
                <a:ea typeface="Calibri" panose="020F0502020204030204" pitchFamily="34" charset="0"/>
                <a:cs typeface="Calibri" panose="020F0502020204030204" pitchFamily="34" charset="0"/>
              </a:rPr>
              <a:t>Analysis 3 :</a:t>
            </a:r>
            <a:r>
              <a:rPr sz="3200" dirty="0">
                <a:latin typeface="Calibri" panose="020F0502020204030204" pitchFamily="34" charset="0"/>
                <a:ea typeface="Calibri" panose="020F0502020204030204" pitchFamily="34" charset="0"/>
                <a:cs typeface="Calibri" panose="020F0502020204030204" pitchFamily="34" charset="0"/>
              </a:rPr>
              <a:t>Genre Insights</a:t>
            </a:r>
          </a:p>
        </p:txBody>
      </p:sp>
      <p:sp>
        <p:nvSpPr>
          <p:cNvPr id="3" name="Content Placeholder 2"/>
          <p:cNvSpPr>
            <a:spLocks noGrp="1"/>
          </p:cNvSpPr>
          <p:nvPr>
            <p:ph idx="1"/>
          </p:nvPr>
        </p:nvSpPr>
        <p:spPr>
          <a:xfrm>
            <a:off x="609599" y="1053691"/>
            <a:ext cx="6347714" cy="3512622"/>
          </a:xfrm>
        </p:spPr>
        <p:txBody>
          <a:bodyPr>
            <a:noAutofit/>
          </a:bodyPr>
          <a:lstStyle/>
          <a:p>
            <a:pPr marL="0" indent="0">
              <a:buNone/>
            </a:pPr>
            <a:r>
              <a:rPr lang="en-US" sz="1200" b="1" dirty="0">
                <a:latin typeface="Times New Roman" panose="02020603050405020304" pitchFamily="18" charset="0"/>
                <a:cs typeface="Times New Roman" panose="02020603050405020304" pitchFamily="18" charset="0"/>
              </a:rPr>
              <a:t>Key Observations:</a:t>
            </a:r>
          </a:p>
          <a:p>
            <a:r>
              <a:rPr lang="en-US" sz="1200" dirty="0">
                <a:latin typeface="Times New Roman" panose="02020603050405020304" pitchFamily="18" charset="0"/>
                <a:cs typeface="Times New Roman" panose="02020603050405020304" pitchFamily="18" charset="0"/>
              </a:rPr>
              <a:t>🎶 Pop, Rock, R&amp;B, and Afrobeats lead in average popularity These genres consistently attract strong listener engagement and dominate top-performing tracks.</a:t>
            </a:r>
          </a:p>
          <a:p>
            <a:r>
              <a:rPr lang="en-US" sz="1200" dirty="0">
                <a:latin typeface="Times New Roman" panose="02020603050405020304" pitchFamily="18" charset="0"/>
                <a:cs typeface="Times New Roman" panose="02020603050405020304" pitchFamily="18" charset="0"/>
              </a:rPr>
              <a:t>📊 Mixed and undefined genres (N/A) form the largest share of total tracks Indicates diverse or blended genre tagging, common in modern music classification.</a:t>
            </a:r>
          </a:p>
          <a:p>
            <a:r>
              <a:rPr lang="en-US" sz="1200" dirty="0">
                <a:latin typeface="Times New Roman" panose="02020603050405020304" pitchFamily="18" charset="0"/>
                <a:cs typeface="Times New Roman" panose="02020603050405020304" pitchFamily="18" charset="0"/>
              </a:rPr>
              <a:t>🔍 High‑popularity niche genres exist Categories like </a:t>
            </a:r>
            <a:r>
              <a:rPr lang="en-US" sz="1200" i="1" dirty="0">
                <a:latin typeface="Times New Roman" panose="02020603050405020304" pitchFamily="18" charset="0"/>
                <a:cs typeface="Times New Roman" panose="02020603050405020304" pitchFamily="18" charset="0"/>
              </a:rPr>
              <a:t>pop soul</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alternative R&amp;B</a:t>
            </a:r>
            <a:r>
              <a:rPr lang="en-US" sz="1200" dirty="0">
                <a:latin typeface="Times New Roman" panose="02020603050405020304" pitchFamily="18" charset="0"/>
                <a:cs typeface="Times New Roman" panose="02020603050405020304" pitchFamily="18" charset="0"/>
              </a:rPr>
              <a:t>, and </a:t>
            </a:r>
            <a:r>
              <a:rPr lang="en-US" sz="1200" i="1" dirty="0">
                <a:latin typeface="Times New Roman" panose="02020603050405020304" pitchFamily="18" charset="0"/>
                <a:cs typeface="Times New Roman" panose="02020603050405020304" pitchFamily="18" charset="0"/>
              </a:rPr>
              <a:t>soft pop</a:t>
            </a:r>
            <a:r>
              <a:rPr lang="en-US" sz="1200" dirty="0">
                <a:latin typeface="Times New Roman" panose="02020603050405020304" pitchFamily="18" charset="0"/>
                <a:cs typeface="Times New Roman" panose="02020603050405020304" pitchFamily="18" charset="0"/>
              </a:rPr>
              <a:t> show strong average popularity despite smaller track counts.</a:t>
            </a:r>
          </a:p>
          <a:p>
            <a:r>
              <a:rPr lang="en-US" sz="1200" dirty="0">
                <a:latin typeface="Times New Roman" panose="02020603050405020304" pitchFamily="18" charset="0"/>
                <a:cs typeface="Times New Roman" panose="02020603050405020304" pitchFamily="18" charset="0"/>
              </a:rPr>
              <a:t>🌍 Regional and cultural genres show varied performance Genres like </a:t>
            </a:r>
            <a:r>
              <a:rPr lang="en-US" sz="1200" i="1" dirty="0">
                <a:latin typeface="Times New Roman" panose="02020603050405020304" pitchFamily="18" charset="0"/>
                <a:cs typeface="Times New Roman" panose="02020603050405020304" pitchFamily="18" charset="0"/>
              </a:rPr>
              <a:t>Brazilian funk</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corrido</a:t>
            </a:r>
            <a:r>
              <a:rPr lang="en-US" sz="1200" dirty="0">
                <a:latin typeface="Times New Roman" panose="02020603050405020304" pitchFamily="18" charset="0"/>
                <a:cs typeface="Times New Roman" panose="02020603050405020304" pitchFamily="18" charset="0"/>
              </a:rPr>
              <a:t>, and </a:t>
            </a:r>
            <a:r>
              <a:rPr lang="en-US" sz="1200" i="1" dirty="0">
                <a:latin typeface="Times New Roman" panose="02020603050405020304" pitchFamily="18" charset="0"/>
                <a:cs typeface="Times New Roman" panose="02020603050405020304" pitchFamily="18" charset="0"/>
              </a:rPr>
              <a:t>Afrobeat</a:t>
            </a:r>
            <a:r>
              <a:rPr lang="en-US" sz="1200" dirty="0">
                <a:latin typeface="Times New Roman" panose="02020603050405020304" pitchFamily="18" charset="0"/>
                <a:cs typeface="Times New Roman" panose="02020603050405020304" pitchFamily="18" charset="0"/>
              </a:rPr>
              <a:t> demonstrate strong popularity within their listener communities.</a:t>
            </a:r>
          </a:p>
          <a:p>
            <a:r>
              <a:rPr lang="en-US" sz="1200" dirty="0">
                <a:latin typeface="Times New Roman" panose="02020603050405020304" pitchFamily="18" charset="0"/>
                <a:cs typeface="Times New Roman" panose="02020603050405020304" pitchFamily="18" charset="0"/>
              </a:rPr>
              <a:t>🎧 Genre does influence popularity, but not exclusively Some genres with lower track volume still achieve high average popularity, showing that artist influence and release strategy also play major roles.</a:t>
            </a:r>
          </a:p>
          <a:p>
            <a:r>
              <a:rPr lang="en-US" sz="1200" dirty="0">
                <a:latin typeface="Times New Roman" panose="02020603050405020304" pitchFamily="18" charset="0"/>
                <a:cs typeface="Times New Roman" panose="02020603050405020304" pitchFamily="18" charset="0"/>
              </a:rPr>
              <a:t>🧩 Soundtrack and K‑pop categories show strong distribution presence These genres contribute significantly to track volume, reflecting their global fanbases and media-driven demand.</a:t>
            </a:r>
          </a:p>
          <a:p>
            <a:pPr marL="0" indent="0">
              <a:buNone/>
            </a:pPr>
            <a:endParaRPr sz="1200" dirty="0">
              <a:latin typeface="Times New Roman" panose="02020603050405020304" pitchFamily="18" charset="0"/>
              <a:cs typeface="Times New Roman" panose="02020603050405020304" pitchFamily="18" charset="0"/>
            </a:endParaRPr>
          </a:p>
        </p:txBody>
      </p:sp>
      <p:pic>
        <p:nvPicPr>
          <p:cNvPr id="5" name="Picture 4" descr="A screen shot of a chart&#10;&#10;AI-generated content may be incorrect.">
            <a:extLst>
              <a:ext uri="{FF2B5EF4-FFF2-40B4-BE49-F238E27FC236}">
                <a16:creationId xmlns:a16="http://schemas.microsoft.com/office/drawing/2014/main" id="{CF5B5CDE-BD43-97E8-081E-2396E854DEBC}"/>
              </a:ext>
            </a:extLst>
          </p:cNvPr>
          <p:cNvPicPr>
            <a:picLocks noChangeAspect="1"/>
          </p:cNvPicPr>
          <p:nvPr/>
        </p:nvPicPr>
        <p:blipFill>
          <a:blip r:embed="rId2"/>
          <a:stretch>
            <a:fillRect/>
          </a:stretch>
        </p:blipFill>
        <p:spPr>
          <a:xfrm>
            <a:off x="486322" y="4754885"/>
            <a:ext cx="3218476" cy="1596754"/>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B31BFC7C-CB51-5A85-BBC7-5279AEE14DCE}"/>
              </a:ext>
            </a:extLst>
          </p:cNvPr>
          <p:cNvPicPr>
            <a:picLocks noChangeAspect="1"/>
          </p:cNvPicPr>
          <p:nvPr/>
        </p:nvPicPr>
        <p:blipFill>
          <a:blip r:embed="rId3"/>
          <a:stretch>
            <a:fillRect/>
          </a:stretch>
        </p:blipFill>
        <p:spPr>
          <a:xfrm>
            <a:off x="3801545" y="4754885"/>
            <a:ext cx="3275318" cy="159675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Calibri" panose="020F0502020204030204" pitchFamily="34" charset="0"/>
                <a:ea typeface="Calibri" panose="020F0502020204030204" pitchFamily="34" charset="0"/>
                <a:cs typeface="Calibri" panose="020F0502020204030204" pitchFamily="34" charset="0"/>
              </a:rPr>
              <a:t>Analysis 4: </a:t>
            </a:r>
            <a:r>
              <a:rPr sz="3200" dirty="0">
                <a:latin typeface="Calibri" panose="020F0502020204030204" pitchFamily="34" charset="0"/>
                <a:ea typeface="Calibri" panose="020F0502020204030204" pitchFamily="34" charset="0"/>
                <a:cs typeface="Calibri" panose="020F0502020204030204" pitchFamily="34" charset="0"/>
              </a:rPr>
              <a:t>Album Type Analysis</a:t>
            </a:r>
          </a:p>
        </p:txBody>
      </p:sp>
      <p:sp>
        <p:nvSpPr>
          <p:cNvPr id="3" name="Content Placeholder 2"/>
          <p:cNvSpPr>
            <a:spLocks noGrp="1"/>
          </p:cNvSpPr>
          <p:nvPr>
            <p:ph idx="1"/>
          </p:nvPr>
        </p:nvSpPr>
        <p:spPr>
          <a:xfrm>
            <a:off x="609598" y="1264111"/>
            <a:ext cx="6347714" cy="2355799"/>
          </a:xfrm>
        </p:spPr>
        <p:txBody>
          <a:bodyPr>
            <a:normAutofit fontScale="70000" lnSpcReduction="20000"/>
          </a:bodyPr>
          <a:lstStyle/>
          <a:p>
            <a:pPr marL="0" indent="0">
              <a:buNone/>
            </a:pPr>
            <a:r>
              <a:rPr lang="en-US" sz="2000" b="1" dirty="0">
                <a:latin typeface="Times New Roman" panose="02020603050405020304" pitchFamily="18" charset="0"/>
                <a:cs typeface="Times New Roman" panose="02020603050405020304" pitchFamily="18" charset="0"/>
              </a:rPr>
              <a:t>Key Observations:</a:t>
            </a:r>
          </a:p>
          <a:p>
            <a:r>
              <a:rPr lang="en-US" dirty="0">
                <a:latin typeface="Times New Roman" panose="02020603050405020304" pitchFamily="18" charset="0"/>
                <a:cs typeface="Times New Roman" panose="02020603050405020304" pitchFamily="18" charset="0"/>
              </a:rPr>
              <a:t>💿 Albums have the highest average popularity Full-length albums outperform singles and compilations, indicating stronger listener engagement with complete bodies of work.</a:t>
            </a:r>
          </a:p>
          <a:p>
            <a:r>
              <a:rPr lang="en-US" dirty="0">
                <a:latin typeface="Times New Roman" panose="02020603050405020304" pitchFamily="18" charset="0"/>
                <a:cs typeface="Times New Roman" panose="02020603050405020304" pitchFamily="18" charset="0"/>
              </a:rPr>
              <a:t>🎧 Singles show consistent but moderate popularity They attract steady attention, often used by artists to maintain visibility between major releases.</a:t>
            </a:r>
          </a:p>
          <a:p>
            <a:r>
              <a:rPr lang="en-US" dirty="0">
                <a:latin typeface="Times New Roman" panose="02020603050405020304" pitchFamily="18" charset="0"/>
                <a:cs typeface="Times New Roman" panose="02020603050405020304" pitchFamily="18" charset="0"/>
              </a:rPr>
              <a:t>📉 Compilations have the lowest popularity scores These releases tend to be less impactful, possibly due to mixed content or lower promotional focus.</a:t>
            </a:r>
          </a:p>
          <a:p>
            <a:r>
              <a:rPr lang="en-US" dirty="0">
                <a:latin typeface="Times New Roman" panose="02020603050405020304" pitchFamily="18" charset="0"/>
                <a:cs typeface="Times New Roman" panose="02020603050405020304" pitchFamily="18" charset="0"/>
              </a:rPr>
              <a:t>📊 Track volume varies significantly by artist Artists like Taylor Swift, The </a:t>
            </a:r>
            <a:r>
              <a:rPr lang="en-US" dirty="0" err="1">
                <a:latin typeface="Times New Roman" panose="02020603050405020304" pitchFamily="18" charset="0"/>
                <a:cs typeface="Times New Roman" panose="02020603050405020304" pitchFamily="18" charset="0"/>
              </a:rPr>
              <a:t>Weeknd</a:t>
            </a:r>
            <a:r>
              <a:rPr lang="en-US" dirty="0">
                <a:latin typeface="Times New Roman" panose="02020603050405020304" pitchFamily="18" charset="0"/>
                <a:cs typeface="Times New Roman" panose="02020603050405020304" pitchFamily="18" charset="0"/>
              </a:rPr>
              <a:t>, and Lana Del Rey contribute heavily to album-based releases, influencing overall popularity trends.</a:t>
            </a:r>
          </a:p>
          <a:p>
            <a:pPr marL="0" indent="0">
              <a:buNone/>
            </a:pPr>
            <a:endParaRPr dirty="0">
              <a:latin typeface="Times New Roman" panose="02020603050405020304" pitchFamily="18" charset="0"/>
              <a:cs typeface="Times New Roman" panose="02020603050405020304" pitchFamily="18" charset="0"/>
            </a:endParaRPr>
          </a:p>
        </p:txBody>
      </p:sp>
      <p:pic>
        <p:nvPicPr>
          <p:cNvPr id="17" name="Picture 16" descr="A screenshot of a computer&#10;&#10;AI-generated content may be incorrect.">
            <a:extLst>
              <a:ext uri="{FF2B5EF4-FFF2-40B4-BE49-F238E27FC236}">
                <a16:creationId xmlns:a16="http://schemas.microsoft.com/office/drawing/2014/main" id="{5A0C5225-00E2-3632-475D-8ECC720D7156}"/>
              </a:ext>
            </a:extLst>
          </p:cNvPr>
          <p:cNvPicPr>
            <a:picLocks noChangeAspect="1"/>
          </p:cNvPicPr>
          <p:nvPr/>
        </p:nvPicPr>
        <p:blipFill>
          <a:blip r:embed="rId2"/>
          <a:stretch>
            <a:fillRect/>
          </a:stretch>
        </p:blipFill>
        <p:spPr>
          <a:xfrm>
            <a:off x="1032387" y="3988619"/>
            <a:ext cx="6071326" cy="208772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dirty="0">
                <a:latin typeface="Calibri" panose="020F0502020204030204" pitchFamily="34" charset="0"/>
                <a:ea typeface="Calibri" panose="020F0502020204030204" pitchFamily="34" charset="0"/>
                <a:cs typeface="Calibri" panose="020F0502020204030204" pitchFamily="34" charset="0"/>
              </a:rPr>
              <a:t>Track Duration vs Popularity</a:t>
            </a:r>
          </a:p>
        </p:txBody>
      </p:sp>
      <p:sp>
        <p:nvSpPr>
          <p:cNvPr id="3" name="Content Placeholder 2"/>
          <p:cNvSpPr>
            <a:spLocks noGrp="1"/>
          </p:cNvSpPr>
          <p:nvPr>
            <p:ph idx="1"/>
          </p:nvPr>
        </p:nvSpPr>
        <p:spPr>
          <a:xfrm>
            <a:off x="491612" y="1299497"/>
            <a:ext cx="6347714" cy="4527195"/>
          </a:xfrm>
        </p:spPr>
        <p:txBody>
          <a:bodyPr>
            <a:normAutofit/>
          </a:bodyPr>
          <a:lstStyle/>
          <a:p>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Ideal track duration is around 3 minutes</a:t>
            </a:r>
            <a:r>
              <a:rPr lang="en-US" sz="1400" dirty="0">
                <a:latin typeface="Times New Roman" panose="02020603050405020304" pitchFamily="18" charset="0"/>
                <a:cs typeface="Times New Roman" panose="02020603050405020304" pitchFamily="18" charset="0"/>
              </a:rPr>
              <a:t> This length consistently aligns with higher popularity scores across genres.</a:t>
            </a:r>
          </a:p>
          <a:p>
            <a:r>
              <a:rPr lang="en-US" sz="1400" dirty="0">
                <a:latin typeface="Times New Roman" panose="02020603050405020304" pitchFamily="18" charset="0"/>
                <a:cs typeface="Times New Roman" panose="02020603050405020304" pitchFamily="18" charset="0"/>
              </a:rPr>
              <a:t>• 🎯 </a:t>
            </a:r>
            <a:r>
              <a:rPr lang="en-US" sz="1400" b="1" dirty="0">
                <a:latin typeface="Times New Roman" panose="02020603050405020304" pitchFamily="18" charset="0"/>
                <a:cs typeface="Times New Roman" panose="02020603050405020304" pitchFamily="18" charset="0"/>
              </a:rPr>
              <a:t>Most popular tracks fall between 2.5 to 4 minutes</a:t>
            </a:r>
            <a:r>
              <a:rPr lang="en-US" sz="1400" dirty="0">
                <a:latin typeface="Times New Roman" panose="02020603050405020304" pitchFamily="18" charset="0"/>
                <a:cs typeface="Times New Roman" panose="02020603050405020304" pitchFamily="18" charset="0"/>
              </a:rPr>
              <a:t> This range balances listener engagement and streaming optimization.</a:t>
            </a:r>
          </a:p>
          <a:p>
            <a:r>
              <a:rPr lang="en-US" sz="1400" dirty="0">
                <a:latin typeface="Times New Roman" panose="02020603050405020304" pitchFamily="18" charset="0"/>
                <a:cs typeface="Times New Roman" panose="02020603050405020304" pitchFamily="18" charset="0"/>
              </a:rPr>
              <a:t>• 📉 </a:t>
            </a:r>
            <a:r>
              <a:rPr lang="en-US" sz="1400" b="1" dirty="0">
                <a:latin typeface="Times New Roman" panose="02020603050405020304" pitchFamily="18" charset="0"/>
                <a:cs typeface="Times New Roman" panose="02020603050405020304" pitchFamily="18" charset="0"/>
              </a:rPr>
              <a:t>Extremely short (&lt;2 min) or long (&gt;6 min) tracks underperform</a:t>
            </a:r>
            <a:r>
              <a:rPr lang="en-US" sz="1400" dirty="0">
                <a:latin typeface="Times New Roman" panose="02020603050405020304" pitchFamily="18" charset="0"/>
                <a:cs typeface="Times New Roman" panose="02020603050405020304" pitchFamily="18" charset="0"/>
              </a:rPr>
              <a:t> These tend to have lower popularity due to reduced replay value or listener fatigue.</a:t>
            </a:r>
          </a:p>
          <a:p>
            <a:r>
              <a:rPr lang="en-US" sz="1400" dirty="0">
                <a:latin typeface="Times New Roman" panose="02020603050405020304" pitchFamily="18" charset="0"/>
                <a:cs typeface="Times New Roman" panose="02020603050405020304" pitchFamily="18" charset="0"/>
              </a:rPr>
              <a:t>• 📊 </a:t>
            </a:r>
            <a:r>
              <a:rPr lang="en-US" sz="1400" b="1" dirty="0">
                <a:latin typeface="Times New Roman" panose="02020603050405020304" pitchFamily="18" charset="0"/>
                <a:cs typeface="Times New Roman" panose="02020603050405020304" pitchFamily="18" charset="0"/>
              </a:rPr>
              <a:t>Average track duration is 3.49 minutes</a:t>
            </a:r>
            <a:r>
              <a:rPr lang="en-US" sz="1400" dirty="0">
                <a:latin typeface="Times New Roman" panose="02020603050405020304" pitchFamily="18" charset="0"/>
                <a:cs typeface="Times New Roman" panose="02020603050405020304" pitchFamily="18" charset="0"/>
              </a:rPr>
              <a:t> Slightly above the ideal, indicating a trend toward longer compositions.</a:t>
            </a:r>
          </a:p>
        </p:txBody>
      </p:sp>
      <p:pic>
        <p:nvPicPr>
          <p:cNvPr id="5" name="Picture 4" descr="A black square with white border&#10;&#10;AI-generated content may be incorrect.">
            <a:extLst>
              <a:ext uri="{FF2B5EF4-FFF2-40B4-BE49-F238E27FC236}">
                <a16:creationId xmlns:a16="http://schemas.microsoft.com/office/drawing/2014/main" id="{2FC401A5-2CDE-FD13-51A5-A997D040CF93}"/>
              </a:ext>
            </a:extLst>
          </p:cNvPr>
          <p:cNvPicPr>
            <a:picLocks noChangeAspect="1"/>
          </p:cNvPicPr>
          <p:nvPr/>
        </p:nvPicPr>
        <p:blipFill>
          <a:blip r:embed="rId2"/>
          <a:stretch>
            <a:fillRect/>
          </a:stretch>
        </p:blipFill>
        <p:spPr>
          <a:xfrm>
            <a:off x="609599" y="5174481"/>
            <a:ext cx="6347713" cy="1073919"/>
          </a:xfrm>
          <a:prstGeom prst="rect">
            <a:avLst/>
          </a:prstGeom>
        </p:spPr>
      </p:pic>
      <p:pic>
        <p:nvPicPr>
          <p:cNvPr id="7" name="Picture 6" descr="A screen shot of a computer screen&#10;&#10;AI-generated content may be incorrect.">
            <a:extLst>
              <a:ext uri="{FF2B5EF4-FFF2-40B4-BE49-F238E27FC236}">
                <a16:creationId xmlns:a16="http://schemas.microsoft.com/office/drawing/2014/main" id="{1A1E4482-CA78-075C-2B04-54D8F6886BE3}"/>
              </a:ext>
            </a:extLst>
          </p:cNvPr>
          <p:cNvPicPr>
            <a:picLocks noChangeAspect="1"/>
          </p:cNvPicPr>
          <p:nvPr/>
        </p:nvPicPr>
        <p:blipFill>
          <a:blip r:embed="rId3"/>
          <a:stretch>
            <a:fillRect/>
          </a:stretch>
        </p:blipFill>
        <p:spPr>
          <a:xfrm>
            <a:off x="609599" y="3637934"/>
            <a:ext cx="6347714" cy="14133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AADF2-81BE-6817-0632-D31D8AC601F9}"/>
              </a:ext>
            </a:extLst>
          </p:cNvPr>
          <p:cNvSpPr>
            <a:spLocks noGrp="1"/>
          </p:cNvSpPr>
          <p:nvPr>
            <p:ph type="title"/>
          </p:nvPr>
        </p:nvSpPr>
        <p:spPr>
          <a:xfrm>
            <a:off x="884902" y="2886587"/>
            <a:ext cx="6347714" cy="1320800"/>
          </a:xfrm>
        </p:spPr>
        <p:txBody>
          <a:bodyPr/>
          <a:lstStyle/>
          <a:p>
            <a:pPr algn="ctr"/>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Power BI Dashboard</a:t>
            </a:r>
          </a:p>
        </p:txBody>
      </p:sp>
    </p:spTree>
    <p:extLst>
      <p:ext uri="{BB962C8B-B14F-4D97-AF65-F5344CB8AC3E}">
        <p14:creationId xmlns:p14="http://schemas.microsoft.com/office/powerpoint/2010/main" val="1386157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 dashboard&#10;&#10;AI-generated content may be incorrect.">
            <a:extLst>
              <a:ext uri="{FF2B5EF4-FFF2-40B4-BE49-F238E27FC236}">
                <a16:creationId xmlns:a16="http://schemas.microsoft.com/office/drawing/2014/main" id="{34DE9874-7CAA-EB18-8C63-34DDAA173510}"/>
              </a:ext>
            </a:extLst>
          </p:cNvPr>
          <p:cNvPicPr>
            <a:picLocks noChangeAspect="1"/>
          </p:cNvPicPr>
          <p:nvPr/>
        </p:nvPicPr>
        <p:blipFill>
          <a:blip r:embed="rId2"/>
          <a:stretch>
            <a:fillRect/>
          </a:stretch>
        </p:blipFill>
        <p:spPr>
          <a:xfrm>
            <a:off x="451318" y="668595"/>
            <a:ext cx="8230566" cy="5378244"/>
          </a:xfrm>
          <a:prstGeom prst="rect">
            <a:avLst/>
          </a:prstGeom>
        </p:spPr>
      </p:pic>
    </p:spTree>
    <p:extLst>
      <p:ext uri="{BB962C8B-B14F-4D97-AF65-F5344CB8AC3E}">
        <p14:creationId xmlns:p14="http://schemas.microsoft.com/office/powerpoint/2010/main" val="72011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Key Insights</a:t>
            </a:r>
          </a:p>
        </p:txBody>
      </p:sp>
      <p:sp>
        <p:nvSpPr>
          <p:cNvPr id="3" name="Content Placeholder 2"/>
          <p:cNvSpPr>
            <a:spLocks noGrp="1"/>
          </p:cNvSpPr>
          <p:nvPr>
            <p:ph idx="1"/>
          </p:nvPr>
        </p:nvSpPr>
        <p:spPr>
          <a:xfrm>
            <a:off x="609599" y="1484672"/>
            <a:ext cx="6347714" cy="4556692"/>
          </a:xfrm>
        </p:spPr>
        <p:txBody>
          <a:bodyPr>
            <a:normAutofit/>
          </a:bodyPr>
          <a:lstStyle/>
          <a:p>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Artist brand strongly influences popularity</a:t>
            </a:r>
            <a:r>
              <a:rPr lang="en-US" sz="1400" dirty="0">
                <a:latin typeface="Times New Roman" panose="02020603050405020304" pitchFamily="18" charset="0"/>
                <a:cs typeface="Times New Roman" panose="02020603050405020304" pitchFamily="18" charset="0"/>
              </a:rPr>
              <a:t> Top artists with strong fan bases consistently achieve high popularity scores.</a:t>
            </a:r>
          </a:p>
          <a:p>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Non-explicit content dominates the platform</a:t>
            </a:r>
            <a:r>
              <a:rPr lang="en-US" sz="1400" dirty="0">
                <a:latin typeface="Times New Roman" panose="02020603050405020304" pitchFamily="18" charset="0"/>
                <a:cs typeface="Times New Roman" panose="02020603050405020304" pitchFamily="18" charset="0"/>
              </a:rPr>
              <a:t> Over 74% of 0tracks are non-explicit, indicating broader audience targeting.</a:t>
            </a:r>
          </a:p>
          <a:p>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Track releases surged post-2000</a:t>
            </a:r>
            <a:r>
              <a:rPr lang="en-US" sz="1400" dirty="0">
                <a:latin typeface="Times New Roman" panose="02020603050405020304" pitchFamily="18" charset="0"/>
                <a:cs typeface="Times New Roman" panose="02020603050405020304" pitchFamily="18" charset="0"/>
              </a:rPr>
              <a:t> Reflects the impact of digital distribution and streaming platforms.</a:t>
            </a:r>
          </a:p>
          <a:p>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Albums outperform singles and compilations</a:t>
            </a:r>
            <a:r>
              <a:rPr lang="en-US" sz="1400" dirty="0">
                <a:latin typeface="Times New Roman" panose="02020603050405020304" pitchFamily="18" charset="0"/>
                <a:cs typeface="Times New Roman" panose="02020603050405020304" pitchFamily="18" charset="0"/>
              </a:rPr>
              <a:t> Full-length releases show higher average popularity.</a:t>
            </a:r>
          </a:p>
          <a:p>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Ideal track duration is around 3 minutes</a:t>
            </a:r>
            <a:r>
              <a:rPr lang="en-US" sz="1400" dirty="0">
                <a:latin typeface="Times New Roman" panose="02020603050405020304" pitchFamily="18" charset="0"/>
                <a:cs typeface="Times New Roman" panose="02020603050405020304" pitchFamily="18" charset="0"/>
              </a:rPr>
              <a:t> Tracks between 2.5–4 minutes perform best in terms of popularity.</a:t>
            </a:r>
          </a:p>
          <a:p>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Pop, Rock, R&amp;B, and Afrobeats lead genre popularity</a:t>
            </a:r>
            <a:r>
              <a:rPr lang="en-US" sz="1400" dirty="0">
                <a:latin typeface="Times New Roman" panose="02020603050405020304" pitchFamily="18" charset="0"/>
                <a:cs typeface="Times New Roman" panose="02020603050405020304" pitchFamily="18" charset="0"/>
              </a:rPr>
              <a:t> These genres consistently attract strong listener engagement.</a:t>
            </a:r>
          </a:p>
          <a:p>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Content saturation in recent years</a:t>
            </a:r>
            <a:r>
              <a:rPr lang="en-US" sz="1400" dirty="0">
                <a:latin typeface="Times New Roman" panose="02020603050405020304" pitchFamily="18" charset="0"/>
                <a:cs typeface="Times New Roman" panose="02020603050405020304" pitchFamily="18" charset="0"/>
              </a:rPr>
              <a:t> High release volume makes it harder for tracks to stand out.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Calibri" panose="020F0502020204030204" pitchFamily="34" charset="0"/>
                <a:ea typeface="Calibri" panose="020F0502020204030204" pitchFamily="34" charset="0"/>
                <a:cs typeface="Calibri" panose="020F0502020204030204" pitchFamily="34" charset="0"/>
              </a:rPr>
              <a:t>Recommendations</a:t>
            </a:r>
          </a:p>
        </p:txBody>
      </p:sp>
      <p:sp>
        <p:nvSpPr>
          <p:cNvPr id="3" name="Content Placeholder 2"/>
          <p:cNvSpPr>
            <a:spLocks noGrp="1"/>
          </p:cNvSpPr>
          <p:nvPr>
            <p:ph idx="1"/>
          </p:nvPr>
        </p:nvSpPr>
        <p:spPr>
          <a:xfrm>
            <a:off x="609598" y="1688641"/>
            <a:ext cx="6347714" cy="3880773"/>
          </a:xfrm>
        </p:spPr>
        <p:txBody>
          <a:bodyPr>
            <a:noAutofit/>
          </a:bodyPr>
          <a:lstStyle/>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Optimize track duration around 3 minutes</a:t>
            </a:r>
            <a:r>
              <a:rPr lang="en-US" sz="1600" dirty="0">
                <a:latin typeface="Times New Roman" panose="02020603050405020304" pitchFamily="18" charset="0"/>
                <a:cs typeface="Times New Roman" panose="02020603050405020304" pitchFamily="18" charset="0"/>
              </a:rPr>
              <a:t> Tracks between 2.5–4 minutes perform best and gain higher listener engagement.</a:t>
            </a:r>
          </a:p>
          <a:p>
            <a:r>
              <a:rPr lang="en-US" sz="1600" b="1" dirty="0">
                <a:latin typeface="Times New Roman" panose="02020603050405020304" pitchFamily="18" charset="0"/>
                <a:cs typeface="Times New Roman" panose="02020603050405020304" pitchFamily="18" charset="0"/>
              </a:rPr>
              <a:t>Strengthen genre tagging for better discoverability</a:t>
            </a:r>
            <a:r>
              <a:rPr lang="en-US" sz="1600" dirty="0">
                <a:latin typeface="Times New Roman" panose="02020603050405020304" pitchFamily="18" charset="0"/>
                <a:cs typeface="Times New Roman" panose="02020603050405020304" pitchFamily="18" charset="0"/>
              </a:rPr>
              <a:t> Many tracks fall under mixed or undefined genres; clearer tagging improves recommendations and reach.</a:t>
            </a:r>
          </a:p>
          <a:p>
            <a:r>
              <a:rPr lang="en-US" sz="1600" b="1" dirty="0">
                <a:latin typeface="Times New Roman" panose="02020603050405020304" pitchFamily="18" charset="0"/>
                <a:cs typeface="Times New Roman" panose="02020603050405020304" pitchFamily="18" charset="0"/>
              </a:rPr>
              <a:t>Encourage new artists to release singles first</a:t>
            </a:r>
            <a:r>
              <a:rPr lang="en-US" sz="1600" dirty="0">
                <a:latin typeface="Times New Roman" panose="02020603050405020304" pitchFamily="18" charset="0"/>
                <a:cs typeface="Times New Roman" panose="02020603050405020304" pitchFamily="18" charset="0"/>
              </a:rPr>
              <a:t> Singles help build visibility before investing in full albums.</a:t>
            </a:r>
          </a:p>
          <a:p>
            <a:r>
              <a:rPr lang="en-US" sz="1600" b="1" dirty="0">
                <a:latin typeface="Times New Roman" panose="02020603050405020304" pitchFamily="18" charset="0"/>
                <a:cs typeface="Times New Roman" panose="02020603050405020304" pitchFamily="18" charset="0"/>
              </a:rPr>
              <a:t>Leverage high‑performing genres like Pop, R&amp;B, and Afrobeats</a:t>
            </a:r>
            <a:r>
              <a:rPr lang="en-US" sz="1600" dirty="0">
                <a:latin typeface="Times New Roman" panose="02020603050405020304" pitchFamily="18" charset="0"/>
                <a:cs typeface="Times New Roman" panose="02020603050405020304" pitchFamily="18" charset="0"/>
              </a:rPr>
              <a:t> These genres consistently attract strong popularity and can guide release strategy.</a:t>
            </a:r>
          </a:p>
          <a:p>
            <a:r>
              <a:rPr lang="en-US" sz="1600" b="1" dirty="0">
                <a:latin typeface="Times New Roman" panose="02020603050405020304" pitchFamily="18" charset="0"/>
                <a:cs typeface="Times New Roman" panose="02020603050405020304" pitchFamily="18" charset="0"/>
              </a:rPr>
              <a:t>Focus on artist branding and audience engagement</a:t>
            </a:r>
            <a:r>
              <a:rPr lang="en-US" sz="1600" dirty="0">
                <a:latin typeface="Times New Roman" panose="02020603050405020304" pitchFamily="18" charset="0"/>
                <a:cs typeface="Times New Roman" panose="02020603050405020304" pitchFamily="18" charset="0"/>
              </a:rPr>
              <a:t> Strong artist identity directly correlates with higher popularity and follower growth.</a:t>
            </a:r>
          </a:p>
          <a:p>
            <a:r>
              <a:rPr lang="en-US" sz="1600" b="1" dirty="0">
                <a:latin typeface="Times New Roman" panose="02020603050405020304" pitchFamily="18" charset="0"/>
                <a:cs typeface="Times New Roman" panose="02020603050405020304" pitchFamily="18" charset="0"/>
              </a:rPr>
              <a:t>Monitor release timing to avoid content saturation</a:t>
            </a:r>
            <a:r>
              <a:rPr lang="en-US" sz="1600" dirty="0">
                <a:latin typeface="Times New Roman" panose="02020603050405020304" pitchFamily="18" charset="0"/>
                <a:cs typeface="Times New Roman" panose="02020603050405020304" pitchFamily="18" charset="0"/>
              </a:rPr>
              <a:t> Strategic release planning helps tracks stand out in high‑volume periods.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5505" y="3177458"/>
            <a:ext cx="6347713" cy="1320800"/>
          </a:xfrm>
        </p:spPr>
        <p:txBody>
          <a:bodyPr/>
          <a:lstStyle/>
          <a:p>
            <a:pPr algn="ctr"/>
            <a:r>
              <a:rPr lang="en-IN" b="1" dirty="0">
                <a:solidFill>
                  <a:schemeClr val="tx1"/>
                </a:solidFill>
                <a:latin typeface="Calibri" panose="020F0502020204030204" pitchFamily="34" charset="0"/>
                <a:ea typeface="Calibri" panose="020F0502020204030204" pitchFamily="34" charset="0"/>
                <a:cs typeface="Calibri" panose="020F0502020204030204" pitchFamily="34" charset="0"/>
              </a:rPr>
              <a:t>THANK YOU!</a:t>
            </a:r>
            <a:endParaRPr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75</TotalTime>
  <Words>1397</Words>
  <Application>Microsoft Office PowerPoint</Application>
  <PresentationFormat>On-screen Show (4:3)</PresentationFormat>
  <Paragraphs>93</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Calibri</vt:lpstr>
      <vt:lpstr>Times New Roman</vt:lpstr>
      <vt:lpstr>Trebuchet MS</vt:lpstr>
      <vt:lpstr>Wingdings 3</vt:lpstr>
      <vt:lpstr>Facet</vt:lpstr>
      <vt:lpstr>Spotify Analytics Dashboard Report</vt:lpstr>
      <vt:lpstr>Introduction &amp; Objective</vt:lpstr>
      <vt:lpstr>Tools Used</vt:lpstr>
      <vt:lpstr>Data Structure </vt:lpstr>
      <vt:lpstr>Data Validation &amp; Cleaning</vt:lpstr>
      <vt:lpstr>KPI Overview</vt:lpstr>
      <vt:lpstr>The KPI section provides a high-level summary of Spotify’s music dataset, highlighting key metrics that represent content volume, popularity, artist influence, and track characteristics. These indicators help in quickly assessing overall platform performance and content trends. </vt:lpstr>
      <vt:lpstr>Visualizations</vt:lpstr>
      <vt:lpstr>Analysis 1: Popularity Trend by Year</vt:lpstr>
      <vt:lpstr>Analysis 2: Artist Performance Analysis</vt:lpstr>
      <vt:lpstr>Analysis 3 :Genre Insights</vt:lpstr>
      <vt:lpstr>Analysis 4: Album Type Analysis</vt:lpstr>
      <vt:lpstr>Track Duration vs Popularity</vt:lpstr>
      <vt:lpstr>Power BI Dashboard</vt:lpstr>
      <vt:lpstr>PowerPoint Presentation</vt:lpstr>
      <vt:lpstr>Key Insights</vt:lpstr>
      <vt:lpstr>Recommendations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nisha pokharkar</cp:lastModifiedBy>
  <cp:revision>7</cp:revision>
  <dcterms:created xsi:type="dcterms:W3CDTF">2013-01-27T09:14:16Z</dcterms:created>
  <dcterms:modified xsi:type="dcterms:W3CDTF">2025-12-16T11:05:15Z</dcterms:modified>
  <cp:category/>
</cp:coreProperties>
</file>